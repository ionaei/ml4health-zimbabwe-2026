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4"/>
  </p:notesMasterIdLst>
  <p:sldIdLst>
    <p:sldId id="298" r:id="rId2"/>
    <p:sldId id="1312" r:id="rId3"/>
    <p:sldId id="1313" r:id="rId4"/>
    <p:sldId id="1314" r:id="rId5"/>
    <p:sldId id="1315" r:id="rId6"/>
    <p:sldId id="1248" r:id="rId7"/>
    <p:sldId id="1249" r:id="rId8"/>
    <p:sldId id="1251" r:id="rId9"/>
    <p:sldId id="1252" r:id="rId10"/>
    <p:sldId id="1253" r:id="rId11"/>
    <p:sldId id="1320" r:id="rId12"/>
    <p:sldId id="1254" r:id="rId13"/>
    <p:sldId id="1255" r:id="rId14"/>
    <p:sldId id="1256" r:id="rId15"/>
    <p:sldId id="1257" r:id="rId16"/>
    <p:sldId id="1323" r:id="rId17"/>
    <p:sldId id="1247" r:id="rId18"/>
    <p:sldId id="1306" r:id="rId19"/>
    <p:sldId id="1258" r:id="rId20"/>
    <p:sldId id="1259" r:id="rId21"/>
    <p:sldId id="1260" r:id="rId22"/>
    <p:sldId id="1261" r:id="rId23"/>
    <p:sldId id="1262" r:id="rId24"/>
    <p:sldId id="1263" r:id="rId25"/>
    <p:sldId id="1296" r:id="rId26"/>
    <p:sldId id="1264" r:id="rId27"/>
    <p:sldId id="1307" r:id="rId28"/>
    <p:sldId id="1265" r:id="rId29"/>
    <p:sldId id="1321" r:id="rId30"/>
    <p:sldId id="1326" r:id="rId31"/>
    <p:sldId id="1316" r:id="rId32"/>
    <p:sldId id="1272" r:id="rId33"/>
    <p:sldId id="1317" r:id="rId34"/>
    <p:sldId id="1273" r:id="rId35"/>
    <p:sldId id="1276" r:id="rId36"/>
    <p:sldId id="1318" r:id="rId37"/>
    <p:sldId id="1277" r:id="rId38"/>
    <p:sldId id="1301" r:id="rId39"/>
    <p:sldId id="1319" r:id="rId40"/>
    <p:sldId id="1267" r:id="rId41"/>
    <p:sldId id="1270" r:id="rId42"/>
    <p:sldId id="1266" r:id="rId43"/>
    <p:sldId id="1280" r:id="rId44"/>
    <p:sldId id="1281" r:id="rId45"/>
    <p:sldId id="1334" r:id="rId46"/>
    <p:sldId id="1279" r:id="rId47"/>
    <p:sldId id="1298" r:id="rId48"/>
    <p:sldId id="1299" r:id="rId49"/>
    <p:sldId id="1282" r:id="rId50"/>
    <p:sldId id="1285" r:id="rId51"/>
    <p:sldId id="1286" r:id="rId52"/>
    <p:sldId id="1283" r:id="rId53"/>
    <p:sldId id="1284" r:id="rId54"/>
    <p:sldId id="1335" r:id="rId55"/>
    <p:sldId id="1302" r:id="rId56"/>
    <p:sldId id="1327" r:id="rId57"/>
    <p:sldId id="1328" r:id="rId58"/>
    <p:sldId id="1329" r:id="rId59"/>
    <p:sldId id="1330" r:id="rId60"/>
    <p:sldId id="1331" r:id="rId61"/>
    <p:sldId id="1332" r:id="rId62"/>
    <p:sldId id="1333" r:id="rId6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100"/>
    <a:srgbClr val="333399"/>
    <a:srgbClr val="E878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44" autoAdjust="0"/>
    <p:restoredTop sz="78345"/>
  </p:normalViewPr>
  <p:slideViewPr>
    <p:cSldViewPr snapToGrid="0">
      <p:cViewPr varScale="1">
        <p:scale>
          <a:sx n="97" d="100"/>
          <a:sy n="97" d="100"/>
        </p:scale>
        <p:origin x="9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CCBF6-AA97-924B-8FA8-6130CDDF6A0E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AFF83-E107-4149-B049-A3E6B5B2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80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>
            <a:extLst>
              <a:ext uri="{FF2B5EF4-FFF2-40B4-BE49-F238E27FC236}">
                <a16:creationId xmlns:a16="http://schemas.microsoft.com/office/drawing/2014/main" id="{EA98A093-E190-1643-8621-BBE2A9C510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8113" y="768350"/>
            <a:ext cx="6823075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0" name="Notes Placeholder 2">
            <a:extLst>
              <a:ext uri="{FF2B5EF4-FFF2-40B4-BE49-F238E27FC236}">
                <a16:creationId xmlns:a16="http://schemas.microsoft.com/office/drawing/2014/main" id="{F89A2DD9-251B-444E-A338-898649BE3D9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7411" name="Slide Number Placeholder 3">
            <a:extLst>
              <a:ext uri="{FF2B5EF4-FFF2-40B4-BE49-F238E27FC236}">
                <a16:creationId xmlns:a16="http://schemas.microsoft.com/office/drawing/2014/main" id="{5997BF2D-BD94-1048-9965-9A6B956FA52A}"/>
              </a:ext>
            </a:extLst>
          </p:cNvPr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0D41DE-6798-4242-A467-5F112D2E08E5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AFF83-E107-4149-B049-A3E6B5B2C25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0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AFF83-E107-4149-B049-A3E6B5B2C25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904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AFF83-E107-4149-B049-A3E6B5B2C25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7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AFF83-E107-4149-B049-A3E6B5B2C25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05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AFF83-E107-4149-B049-A3E6B5B2C25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94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AFF83-E107-4149-B049-A3E6B5B2C25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784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AFF83-E107-4149-B049-A3E6B5B2C25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93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AFF83-E107-4149-B049-A3E6B5B2C25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29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214167-E1A5-3945-8E06-82ED2D3A03C3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3088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AFF83-E107-4149-B049-A3E6B5B2C256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72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214167-E1A5-3945-8E06-82ED2D3A03C3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3109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82" indent="0" algn="ctr">
              <a:buNone/>
              <a:defRPr/>
            </a:lvl2pPr>
            <a:lvl3pPr marL="914364" indent="0" algn="ctr">
              <a:buNone/>
              <a:defRPr/>
            </a:lvl3pPr>
            <a:lvl4pPr marL="1371545" indent="0" algn="ctr">
              <a:buNone/>
              <a:defRPr/>
            </a:lvl4pPr>
            <a:lvl5pPr marL="1828727" indent="0" algn="ctr">
              <a:buNone/>
              <a:defRPr/>
            </a:lvl5pPr>
            <a:lvl6pPr marL="2285909" indent="0" algn="ctr">
              <a:buNone/>
              <a:defRPr/>
            </a:lvl6pPr>
            <a:lvl7pPr marL="2743091" indent="0" algn="ctr">
              <a:buNone/>
              <a:defRPr/>
            </a:lvl7pPr>
            <a:lvl8pPr marL="3200272" indent="0" algn="ctr">
              <a:buNone/>
              <a:defRPr/>
            </a:lvl8pPr>
            <a:lvl9pPr marL="365745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904B62-305C-9C42-89D2-6119E8D3FB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86D6CB-748E-2A4D-9235-ACA1CC8B3124}" type="datetime1">
              <a:rPr lang="en-GB" altLang="en-US"/>
              <a:pPr>
                <a:defRPr/>
              </a:pPr>
              <a:t>03/03/2026</a:t>
            </a:fld>
            <a:endParaRPr lang="en-GB" alt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0A5CDC-63CE-2149-BB64-1D172ABCAE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6E990A-4372-3143-8C6B-05BF7CBDF3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06C18F-E135-A341-9ACE-C10EE9C0B8A2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565489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720"/>
              </a:spcAft>
              <a:defRPr>
                <a:latin typeface="Gill Sans MT" panose="020B0502020104020203" pitchFamily="34" charset="77"/>
              </a:defRPr>
            </a:lvl1pPr>
            <a:lvl2pPr>
              <a:spcAft>
                <a:spcPts val="720"/>
              </a:spcAft>
              <a:defRPr>
                <a:latin typeface="Gill Sans MT" panose="020B0502020104020203" pitchFamily="34" charset="77"/>
              </a:defRPr>
            </a:lvl2pPr>
            <a:lvl3pPr>
              <a:spcAft>
                <a:spcPts val="720"/>
              </a:spcAft>
              <a:defRPr>
                <a:latin typeface="Gill Sans MT" panose="020B0502020104020203" pitchFamily="34" charset="77"/>
              </a:defRPr>
            </a:lvl3pPr>
            <a:lvl4pPr>
              <a:spcAft>
                <a:spcPts val="720"/>
              </a:spcAft>
              <a:defRPr>
                <a:latin typeface="Gill Sans MT" panose="020B0502020104020203" pitchFamily="34" charset="77"/>
              </a:defRPr>
            </a:lvl4pPr>
            <a:lvl5pPr>
              <a:spcAft>
                <a:spcPts val="720"/>
              </a:spcAft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80C212-5C02-0841-968F-9F42CEC698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FEE09-3372-E049-AB13-389BF2DB6A64}" type="datetime1">
              <a:rPr lang="en-GB" altLang="en-US"/>
              <a:pPr>
                <a:defRPr/>
              </a:pPr>
              <a:t>03/03/2026</a:t>
            </a:fld>
            <a:endParaRPr lang="en-GB" alt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5D9107-6114-9943-80E2-AE83171C78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07A0751-7085-4346-AA45-3E148D7EEA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E22EE9-B8A0-0641-9265-052CFE9B95A7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369983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2" indent="0">
              <a:buNone/>
              <a:defRPr sz="1800"/>
            </a:lvl2pPr>
            <a:lvl3pPr marL="914364" indent="0">
              <a:buNone/>
              <a:defRPr sz="1600"/>
            </a:lvl3pPr>
            <a:lvl4pPr marL="1371545" indent="0">
              <a:buNone/>
              <a:defRPr sz="1400"/>
            </a:lvl4pPr>
            <a:lvl5pPr marL="1828727" indent="0">
              <a:buNone/>
              <a:defRPr sz="1400"/>
            </a:lvl5pPr>
            <a:lvl6pPr marL="2285909" indent="0">
              <a:buNone/>
              <a:defRPr sz="1400"/>
            </a:lvl6pPr>
            <a:lvl7pPr marL="2743091" indent="0">
              <a:buNone/>
              <a:defRPr sz="1400"/>
            </a:lvl7pPr>
            <a:lvl8pPr marL="3200272" indent="0">
              <a:buNone/>
              <a:defRPr sz="1400"/>
            </a:lvl8pPr>
            <a:lvl9pPr marL="3657454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993CF81-ACE4-4544-B7C6-4B3AA9A98B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B9050B-8877-4640-B6D9-2E87E66B219C}" type="datetime1">
              <a:rPr lang="en-GB" altLang="en-US"/>
              <a:pPr>
                <a:defRPr/>
              </a:pPr>
              <a:t>03/03/2026</a:t>
            </a:fld>
            <a:endParaRPr lang="en-GB" alt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B4DB7D0-696F-9241-AE9B-CE074CBD2F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354506-7C5F-6747-9655-00931CDCE0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34D1D5-66F3-7D4D-9A3F-F24FEF0D885E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133344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68414"/>
            <a:ext cx="5384800" cy="4968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68414"/>
            <a:ext cx="5384800" cy="4968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4D70F9-4211-0143-A00A-74FD549C38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C2FB3-EE14-7E49-98D2-13C02D70E5BC}" type="datetime1">
              <a:rPr lang="en-GB" altLang="en-US"/>
              <a:pPr>
                <a:defRPr/>
              </a:pPr>
              <a:t>03/03/2026</a:t>
            </a:fld>
            <a:endParaRPr lang="en-GB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EBDA81-9371-4B44-AAB5-58DD182972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FC44E8-8B94-2140-AAC1-D1DB3CA612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B77588-0990-C44C-8474-E51C03A2EE1F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352724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0AE9B1B-D176-FE4F-A689-147073DF99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1637A3-19CF-D949-812B-5D1B21CC9C08}" type="datetime1">
              <a:rPr lang="en-GB" altLang="en-US"/>
              <a:pPr>
                <a:defRPr/>
              </a:pPr>
              <a:t>03/03/2026</a:t>
            </a:fld>
            <a:endParaRPr lang="en-GB" alt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C5752A3-E971-CA43-ABFA-B24AC9FB3C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4C13404-7FCF-6A45-9196-8A19666B3F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A72DD2-BA3F-8543-B2C7-E0B55D5E1680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543234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BD602C5-7899-464F-A639-12459D4BCF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12A1F-3D8B-B042-B58F-D24C94D3FC8B}" type="datetime1">
              <a:rPr lang="en-GB" altLang="en-US"/>
              <a:pPr>
                <a:defRPr/>
              </a:pPr>
              <a:t>03/03/2026</a:t>
            </a:fld>
            <a:endParaRPr lang="en-GB" alt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5159869-5AEA-194C-AD5D-4668FA066A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9D21F11-F0BF-FB4C-B982-2D648656D0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8F552-A29D-2D4E-8192-F20670493719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21864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FB7CE7D-9A6B-C74C-B7CE-C9B74D6FED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31F30A-C80F-BD4E-A710-DF42755B1458}" type="datetime1">
              <a:rPr lang="en-GB" altLang="en-US"/>
              <a:pPr>
                <a:defRPr/>
              </a:pPr>
              <a:t>03/03/2026</a:t>
            </a:fld>
            <a:endParaRPr lang="en-GB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60F0C16-2F9F-4E49-8ABE-41DC8E1D63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A8C51AD-F4CE-DB4B-B82C-25C7F80238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4E80F9-0E08-3C4F-9F14-79BF2B78232D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082024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BEE74E-6597-2542-BEAC-6EE46E2B6C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2AAE65-CBF6-3340-A33F-493A066C018D}" type="datetime1">
              <a:rPr lang="en-GB" altLang="en-US"/>
              <a:pPr>
                <a:defRPr/>
              </a:pPr>
              <a:t>03/03/2026</a:t>
            </a:fld>
            <a:endParaRPr lang="en-GB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073538-0A29-944C-9950-62FB5FD02D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10C969-E888-BA47-A043-DA41A67CBE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AAAEAD-034E-5D49-9732-F6556D5202DC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372369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https://cdn-assets-eu.frontify.com/s3/frontify-enterprise-files-eu/eyJwYXRoIjoiaW1wZXJpYWwtY29sbGVnZS1sb25kb25cL2ZpbGVcL1YyMTZWb1JEVnpjTFJSTGlnSmlVLmVwcyJ9:imperial-college-london:L_hshkpeN472j5rziG7SuEf_HBwuQtPm1Gc5ixkNMYc?width=516" TargetMode="Externa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6967DE2-EE65-284E-9E01-04B61B3966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26987"/>
            <a:ext cx="109728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D155C9C-B87E-EC41-A98B-C31C30EBE6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68414"/>
            <a:ext cx="10972800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9046EFE-2A25-E94A-B1D6-640DBF11E24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81751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>
                <a:latin typeface="Gill Sans MT" panose="020B0502020104020203" pitchFamily="34" charset="77"/>
                <a:ea typeface="ＭＳ Ｐゴシック" charset="-128"/>
              </a:defRPr>
            </a:lvl1pPr>
          </a:lstStyle>
          <a:p>
            <a:pPr>
              <a:defRPr/>
            </a:pPr>
            <a:fld id="{AD94234F-0D0A-E947-8D54-AB6E4080FFC3}" type="datetime1">
              <a:rPr lang="en-GB" altLang="en-US"/>
              <a:pPr>
                <a:defRPr/>
              </a:pPr>
              <a:t>03/03/2026</a:t>
            </a:fld>
            <a:endParaRPr lang="en-GB" altLang="en-US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2AA15D-0E37-9A4D-800B-5EAD365A4BC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81751"/>
            <a:ext cx="3860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Gill Sans MT" panose="020B0502020104020203" pitchFamily="34" charset="77"/>
                <a:ea typeface="ＭＳ Ｐゴシック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116671B-B7F5-A640-A03B-2CB79D5B87F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81751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Gill Sans MT" panose="020B0502020104020203" pitchFamily="34" charset="77"/>
              </a:defRPr>
            </a:lvl1pPr>
          </a:lstStyle>
          <a:p>
            <a:fld id="{07E9AECC-8061-DA49-97AE-2E5615142E93}" type="slidenum">
              <a:rPr lang="en-GB" altLang="en-US"/>
              <a:pPr/>
              <a:t>‹#›</a:t>
            </a:fld>
            <a:endParaRPr lang="en-GB" altLang="en-US" dirty="0"/>
          </a:p>
        </p:txBody>
      </p:sp>
      <p:pic>
        <p:nvPicPr>
          <p:cNvPr id="3" name="Picture 2" descr="Logo PMS Blue">
            <a:extLst>
              <a:ext uri="{FF2B5EF4-FFF2-40B4-BE49-F238E27FC236}">
                <a16:creationId xmlns:a16="http://schemas.microsoft.com/office/drawing/2014/main" id="{0AFEBCA6-9F4E-45A2-F646-CC90EA2022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r:link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416" y="286433"/>
            <a:ext cx="2082304" cy="20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3210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3D7D"/>
          </a:solidFill>
          <a:latin typeface="Gill Sans MT" panose="020B0502020104020203" pitchFamily="34" charset="77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3D7D"/>
          </a:solidFill>
          <a:latin typeface="Gill Sans MT" panose="020B0502020104020203" pitchFamily="34" charset="77"/>
          <a:ea typeface="ＭＳ Ｐゴシック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3D7D"/>
          </a:solidFill>
          <a:latin typeface="Gill Sans MT" panose="020B0502020104020203" pitchFamily="34" charset="77"/>
          <a:ea typeface="ＭＳ Ｐゴシック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3D7D"/>
          </a:solidFill>
          <a:latin typeface="Gill Sans MT" panose="020B0502020104020203" pitchFamily="34" charset="77"/>
          <a:ea typeface="ＭＳ Ｐゴシック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3D7D"/>
          </a:solidFill>
          <a:latin typeface="Gill Sans MT" panose="020B0502020104020203" pitchFamily="34" charset="77"/>
          <a:ea typeface="ＭＳ Ｐゴシック" charset="0"/>
          <a:cs typeface="Arial" charset="0"/>
        </a:defRPr>
      </a:lvl5pPr>
      <a:lvl6pPr marL="457182"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3D7D"/>
          </a:solidFill>
          <a:latin typeface="Verdana" pitchFamily="34" charset="0"/>
          <a:cs typeface="Arial" charset="0"/>
        </a:defRPr>
      </a:lvl6pPr>
      <a:lvl7pPr marL="914364"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3D7D"/>
          </a:solidFill>
          <a:latin typeface="Verdana" pitchFamily="34" charset="0"/>
          <a:cs typeface="Arial" charset="0"/>
        </a:defRPr>
      </a:lvl7pPr>
      <a:lvl8pPr marL="1371545"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3D7D"/>
          </a:solidFill>
          <a:latin typeface="Verdana" pitchFamily="34" charset="0"/>
          <a:cs typeface="Arial" charset="0"/>
        </a:defRPr>
      </a:lvl8pPr>
      <a:lvl9pPr marL="1828727"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3D7D"/>
          </a:solidFill>
          <a:latin typeface="Verdana" pitchFamily="34" charset="0"/>
          <a:cs typeface="Arial" charset="0"/>
        </a:defRPr>
      </a:lvl9pPr>
    </p:titleStyle>
    <p:bodyStyle>
      <a:lvl1pPr marL="342887" indent="-342887" algn="l" rtl="0" eaLnBrk="0" fontAlgn="base" hangingPunct="0">
        <a:spcBef>
          <a:spcPct val="20000"/>
        </a:spcBef>
        <a:spcAft>
          <a:spcPct val="0"/>
        </a:spcAft>
        <a:buFont typeface="Verdana" panose="020B0604030504040204" pitchFamily="34" charset="0"/>
        <a:buChar char="−"/>
        <a:defRPr sz="2400">
          <a:solidFill>
            <a:schemeClr val="tx1"/>
          </a:solidFill>
          <a:latin typeface="Gill Sans MT" panose="020B0502020104020203" pitchFamily="34" charset="77"/>
          <a:ea typeface="ＭＳ Ｐゴシック" charset="0"/>
          <a:cs typeface="+mn-cs"/>
        </a:defRPr>
      </a:lvl1pPr>
      <a:lvl2pPr marL="742920" indent="-285738" algn="l" rtl="0" eaLnBrk="0" fontAlgn="base" hangingPunct="0">
        <a:spcBef>
          <a:spcPct val="20000"/>
        </a:spcBef>
        <a:spcAft>
          <a:spcPct val="0"/>
        </a:spcAft>
        <a:buFont typeface="Verdana" panose="020B0604030504040204" pitchFamily="34" charset="0"/>
        <a:buChar char="−"/>
        <a:defRPr sz="2000">
          <a:solidFill>
            <a:schemeClr val="tx1"/>
          </a:solidFill>
          <a:latin typeface="Gill Sans MT" panose="020B0502020104020203" pitchFamily="34" charset="77"/>
          <a:ea typeface="Arial" charset="0"/>
          <a:cs typeface="+mn-cs"/>
        </a:defRPr>
      </a:lvl2pPr>
      <a:lvl3pPr marL="1142954" indent="-228590" algn="l" rtl="0" eaLnBrk="0" fontAlgn="base" hangingPunct="0">
        <a:spcBef>
          <a:spcPct val="20000"/>
        </a:spcBef>
        <a:spcAft>
          <a:spcPct val="0"/>
        </a:spcAft>
        <a:buFont typeface="Verdana" panose="020B0604030504040204" pitchFamily="34" charset="0"/>
        <a:buChar char="−"/>
        <a:defRPr>
          <a:solidFill>
            <a:schemeClr val="tx1"/>
          </a:solidFill>
          <a:latin typeface="Gill Sans MT" panose="020B0502020104020203" pitchFamily="34" charset="77"/>
          <a:ea typeface="Arial" charset="0"/>
          <a:cs typeface="+mn-cs"/>
        </a:defRPr>
      </a:lvl3pPr>
      <a:lvl4pPr marL="1600136" indent="-228590" algn="l" rtl="0" eaLnBrk="0" fontAlgn="base" hangingPunct="0">
        <a:spcBef>
          <a:spcPct val="20000"/>
        </a:spcBef>
        <a:spcAft>
          <a:spcPct val="0"/>
        </a:spcAft>
        <a:buFont typeface="Verdana" panose="020B0604030504040204" pitchFamily="34" charset="0"/>
        <a:buChar char="−"/>
        <a:defRPr sz="1600">
          <a:solidFill>
            <a:schemeClr val="tx1"/>
          </a:solidFill>
          <a:latin typeface="Gill Sans MT" panose="020B0502020104020203" pitchFamily="34" charset="77"/>
          <a:ea typeface="Arial" charset="0"/>
          <a:cs typeface="+mn-cs"/>
        </a:defRPr>
      </a:lvl4pPr>
      <a:lvl5pPr marL="2057317" indent="-228590" algn="l" rtl="0" eaLnBrk="0" fontAlgn="base" hangingPunct="0">
        <a:spcBef>
          <a:spcPct val="20000"/>
        </a:spcBef>
        <a:spcAft>
          <a:spcPct val="0"/>
        </a:spcAft>
        <a:buFont typeface="Verdana" panose="020B0604030504040204" pitchFamily="34" charset="0"/>
        <a:buChar char="−"/>
        <a:defRPr sz="1600">
          <a:solidFill>
            <a:schemeClr val="tx1"/>
          </a:solidFill>
          <a:latin typeface="Gill Sans MT" panose="020B0502020104020203" pitchFamily="34" charset="77"/>
          <a:ea typeface="Arial" charset="0"/>
          <a:cs typeface="+mn-cs"/>
        </a:defRPr>
      </a:lvl5pPr>
      <a:lvl6pPr marL="2514499" indent="-228590" algn="l" rtl="0" eaLnBrk="0" fontAlgn="base" hangingPunct="0">
        <a:spcBef>
          <a:spcPct val="20000"/>
        </a:spcBef>
        <a:spcAft>
          <a:spcPct val="0"/>
        </a:spcAft>
        <a:buFont typeface="Verdana" pitchFamily="34" charset="0"/>
        <a:buChar char="−"/>
        <a:defRPr sz="1600">
          <a:solidFill>
            <a:schemeClr val="tx1"/>
          </a:solidFill>
          <a:latin typeface="+mn-lt"/>
          <a:cs typeface="+mn-cs"/>
        </a:defRPr>
      </a:lvl6pPr>
      <a:lvl7pPr marL="2971681" indent="-228590" algn="l" rtl="0" eaLnBrk="0" fontAlgn="base" hangingPunct="0">
        <a:spcBef>
          <a:spcPct val="20000"/>
        </a:spcBef>
        <a:spcAft>
          <a:spcPct val="0"/>
        </a:spcAft>
        <a:buFont typeface="Verdana" pitchFamily="34" charset="0"/>
        <a:buChar char="−"/>
        <a:defRPr sz="1600">
          <a:solidFill>
            <a:schemeClr val="tx1"/>
          </a:solidFill>
          <a:latin typeface="+mn-lt"/>
          <a:cs typeface="+mn-cs"/>
        </a:defRPr>
      </a:lvl7pPr>
      <a:lvl8pPr marL="3428863" indent="-228590" algn="l" rtl="0" eaLnBrk="0" fontAlgn="base" hangingPunct="0">
        <a:spcBef>
          <a:spcPct val="20000"/>
        </a:spcBef>
        <a:spcAft>
          <a:spcPct val="0"/>
        </a:spcAft>
        <a:buFont typeface="Verdana" pitchFamily="34" charset="0"/>
        <a:buChar char="−"/>
        <a:defRPr sz="1600">
          <a:solidFill>
            <a:schemeClr val="tx1"/>
          </a:solidFill>
          <a:latin typeface="+mn-lt"/>
          <a:cs typeface="+mn-cs"/>
        </a:defRPr>
      </a:lvl8pPr>
      <a:lvl9pPr marL="3886044" indent="-228590" algn="l" rtl="0" eaLnBrk="0" fontAlgn="base" hangingPunct="0">
        <a:spcBef>
          <a:spcPct val="20000"/>
        </a:spcBef>
        <a:spcAft>
          <a:spcPct val="0"/>
        </a:spcAft>
        <a:buFont typeface="Verdana" pitchFamily="34" charset="0"/>
        <a:buChar char="−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menti.com/alp1axuqbv1p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https://cdn-assets-eu.frontify.com/s3/frontify-enterprise-files-eu/eyJwYXRoIjoiaW1wZXJpYWwtY29sbGVnZS1sb25kb25cL2ZpbGVcL1YyMTZWb1JEVnpjTFJSTGlnSmlVLmVwcyJ9:imperial-college-london:L_hshkpeN472j5rziG7SuEf_HBwuQtPm1Gc5ixkNMYc?width=516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3.jpeg"/><Relationship Id="rId4" Type="http://schemas.openxmlformats.org/officeDocument/2006/relationships/image" Target="https://cdn-assets-eu.frontify.com/s3/frontify-enterprise-files-eu/eyJwYXRoIjoiaW1wZXJpYWwtY29sbGVnZS1sb25kb25cL2ZpbGVcL1YyMTZWb1JEVnpjTFJSTGlnSmlVLmVwcyJ9:imperial-college-london:L_hshkpeN472j5rziG7SuEf_HBwuQtPm1Gc5ixkNMYc?width=516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https://cdn-assets-eu.frontify.com/s3/frontify-enterprise-files-eu/eyJwYXRoIjoiaW1wZXJpYWwtY29sbGVnZS1sb25kb25cL2ZpbGVcL1YyMTZWb1JEVnpjTFJSTGlnSmlVLmVwcyJ9:imperial-college-london:L_hshkpeN472j5rziG7SuEf_HBwuQtPm1Gc5ixkNMYc?width=516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ensemble.BaggingClassifier.html#sklearn.ensemble.BaggingClassifier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gate.net/figure/Feature-importance-ranking-of-the-random-forest-The-importance-ranking-plot-depicts-all_fig2_383417982" TargetMode="Externa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menti.com/alp1axuqbv1p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8">
            <a:extLst>
              <a:ext uri="{FF2B5EF4-FFF2-40B4-BE49-F238E27FC236}">
                <a16:creationId xmlns:a16="http://schemas.microsoft.com/office/drawing/2014/main" id="{668D6855-F81A-A24F-918B-A2C47560C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2351" y="6237288"/>
            <a:ext cx="358775" cy="433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Verdana" panose="020B0604030504040204" pitchFamily="34" charset="0"/>
              <a:buChar char="−"/>
              <a:defRPr sz="2400">
                <a:solidFill>
                  <a:schemeClr val="tx1"/>
                </a:solidFill>
                <a:latin typeface="Gill Sans MT" panose="020B0502020104020203" pitchFamily="34" charset="77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Verdana" panose="020B0604030504040204" pitchFamily="34" charset="0"/>
              <a:buChar char="−"/>
              <a:defRPr sz="2000"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Verdana" panose="020B0604030504040204" pitchFamily="34" charset="0"/>
              <a:buChar char="−"/>
              <a:defRPr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Verdana" panose="020B0604030504040204" pitchFamily="34" charset="0"/>
              <a:buChar char="−"/>
              <a:defRPr sz="1600"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Verdana" panose="020B0604030504040204" pitchFamily="34" charset="0"/>
              <a:buChar char="−"/>
              <a:defRPr sz="1600"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Verdana" panose="020B0604030504040204" pitchFamily="34" charset="0"/>
              <a:buChar char="−"/>
              <a:defRPr sz="1600"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Verdana" panose="020B0604030504040204" pitchFamily="34" charset="0"/>
              <a:buChar char="−"/>
              <a:defRPr sz="1600"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Verdana" panose="020B0604030504040204" pitchFamily="34" charset="0"/>
              <a:buChar char="−"/>
              <a:defRPr sz="1600"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Verdana" panose="020B0604030504040204" pitchFamily="34" charset="0"/>
              <a:buChar char="−"/>
              <a:defRPr sz="1600"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18BEC9-A3BB-7FCC-2484-4024CA13A7BA}"/>
              </a:ext>
            </a:extLst>
          </p:cNvPr>
          <p:cNvSpPr/>
          <p:nvPr/>
        </p:nvSpPr>
        <p:spPr>
          <a:xfrm>
            <a:off x="10661972" y="6289428"/>
            <a:ext cx="490746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ABD67CA7-EF07-D585-CCD5-30D7E2235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717" y="3876881"/>
            <a:ext cx="10634560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Verdana" panose="020B0604030504040204" pitchFamily="34" charset="0"/>
              <a:buChar char="−"/>
              <a:defRPr sz="2400">
                <a:solidFill>
                  <a:schemeClr val="tx1"/>
                </a:solidFill>
                <a:latin typeface="Gill Sans MT" panose="020B0502020104020203" pitchFamily="34" charset="77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Verdana" panose="020B0604030504040204" pitchFamily="34" charset="0"/>
              <a:buChar char="−"/>
              <a:defRPr sz="2000"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Verdana" panose="020B0604030504040204" pitchFamily="34" charset="0"/>
              <a:buChar char="−"/>
              <a:defRPr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Verdana" panose="020B0604030504040204" pitchFamily="34" charset="0"/>
              <a:buChar char="−"/>
              <a:defRPr sz="1600"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Verdana" panose="020B0604030504040204" pitchFamily="34" charset="0"/>
              <a:buChar char="−"/>
              <a:defRPr sz="1600"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Verdana" panose="020B0604030504040204" pitchFamily="34" charset="0"/>
              <a:buChar char="−"/>
              <a:defRPr sz="1600"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Verdana" panose="020B0604030504040204" pitchFamily="34" charset="0"/>
              <a:buChar char="−"/>
              <a:defRPr sz="1600"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Verdana" panose="020B0604030504040204" pitchFamily="34" charset="0"/>
              <a:buChar char="−"/>
              <a:defRPr sz="1600"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Verdana" panose="020B0604030504040204" pitchFamily="34" charset="0"/>
              <a:buChar char="−"/>
              <a:defRPr sz="1600"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003D7D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 panose="020B0604020202020204" pitchFamily="34" charset="0"/>
              </a:rPr>
              <a:t>Ensemble Models and Kernel-based </a:t>
            </a:r>
            <a:b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003D7D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003D7D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 panose="020B0604020202020204" pitchFamily="34" charset="0"/>
              </a:rPr>
              <a:t>Methods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Verdana" panose="020B0604030504040204" pitchFamily="34" charset="0"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Verdana" panose="020B0604030504040204" pitchFamily="34" charset="0"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AE39A-B038-B688-8048-7FEED8A8E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F1F5C-3808-771A-7F19-A37553B18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supervised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FEBD9-7764-80A1-C4DF-F5E0491BA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0935"/>
            <a:ext cx="10820400" cy="2876883"/>
          </a:xfrm>
        </p:spPr>
        <p:txBody>
          <a:bodyPr/>
          <a:lstStyle/>
          <a:p>
            <a:r>
              <a:rPr lang="en-US" dirty="0"/>
              <a:t>A weighted combination of input features can be combined to make predictions</a:t>
            </a:r>
          </a:p>
          <a:p>
            <a:r>
              <a:rPr lang="en-US" dirty="0"/>
              <a:t>Those predictions can be:</a:t>
            </a:r>
          </a:p>
          <a:p>
            <a:pPr lvl="1"/>
            <a:r>
              <a:rPr lang="en-US" dirty="0"/>
              <a:t>Regression: predicts a continuous output e.g. risk score</a:t>
            </a:r>
          </a:p>
          <a:p>
            <a:pPr lvl="1"/>
            <a:r>
              <a:rPr lang="en-US" dirty="0"/>
              <a:t>Classification: predicts a binary outcome e.g. disease/ no disease </a:t>
            </a:r>
          </a:p>
          <a:p>
            <a:r>
              <a:rPr lang="en-US" dirty="0"/>
              <a:t>These models work well when the relationship between features and outcome are approximately linear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60B3EAD-9CF7-9F5B-AFC1-37C42CD4E563}"/>
              </a:ext>
            </a:extLst>
          </p:cNvPr>
          <p:cNvGrpSpPr/>
          <p:nvPr/>
        </p:nvGrpSpPr>
        <p:grpSpPr>
          <a:xfrm rot="16869549">
            <a:off x="3484468" y="4341666"/>
            <a:ext cx="1801273" cy="1744381"/>
            <a:chOff x="1669293" y="3037535"/>
            <a:chExt cx="2905301" cy="2813539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77052C7-A7CD-0621-8FA4-33E0A259CDBD}"/>
                </a:ext>
              </a:extLst>
            </p:cNvPr>
            <p:cNvSpPr/>
            <p:nvPr/>
          </p:nvSpPr>
          <p:spPr>
            <a:xfrm>
              <a:off x="1669293" y="4231167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9832D76-EA5E-6D50-A2AD-86A68A15D401}"/>
                </a:ext>
              </a:extLst>
            </p:cNvPr>
            <p:cNvSpPr/>
            <p:nvPr/>
          </p:nvSpPr>
          <p:spPr>
            <a:xfrm>
              <a:off x="2072064" y="4329365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9FD1791-A2B0-6BF4-3212-9651F324EE0D}"/>
                </a:ext>
              </a:extLst>
            </p:cNvPr>
            <p:cNvSpPr/>
            <p:nvPr/>
          </p:nvSpPr>
          <p:spPr>
            <a:xfrm>
              <a:off x="1995864" y="4927740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CD8D45-DCC9-F5C2-C712-C91DA040C15F}"/>
                </a:ext>
              </a:extLst>
            </p:cNvPr>
            <p:cNvSpPr/>
            <p:nvPr/>
          </p:nvSpPr>
          <p:spPr>
            <a:xfrm>
              <a:off x="2594578" y="4851653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627D7D8-DFBC-130D-C8FB-55C48FE9DB79}"/>
                </a:ext>
              </a:extLst>
            </p:cNvPr>
            <p:cNvSpPr/>
            <p:nvPr/>
          </p:nvSpPr>
          <p:spPr>
            <a:xfrm>
              <a:off x="2246236" y="3937479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81B5DAC-7D1A-EA2F-4FAE-BF8D51A7F3FE}"/>
                </a:ext>
              </a:extLst>
            </p:cNvPr>
            <p:cNvSpPr/>
            <p:nvPr/>
          </p:nvSpPr>
          <p:spPr>
            <a:xfrm>
              <a:off x="3095799" y="3644751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D0871FF-B06D-3798-E70B-1B88B4A19BAE}"/>
                </a:ext>
              </a:extLst>
            </p:cNvPr>
            <p:cNvSpPr/>
            <p:nvPr/>
          </p:nvSpPr>
          <p:spPr>
            <a:xfrm>
              <a:off x="2431293" y="4481539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4670E67-229F-7EAD-D53C-F0C4B0099E65}"/>
                </a:ext>
              </a:extLst>
            </p:cNvPr>
            <p:cNvSpPr/>
            <p:nvPr/>
          </p:nvSpPr>
          <p:spPr>
            <a:xfrm>
              <a:off x="2834064" y="4416224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7699412-2ECF-6914-AAEF-A51D00F6E413}"/>
                </a:ext>
              </a:extLst>
            </p:cNvPr>
            <p:cNvSpPr/>
            <p:nvPr/>
          </p:nvSpPr>
          <p:spPr>
            <a:xfrm>
              <a:off x="2594578" y="3991681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73F2852-B443-8ADD-17F5-759F5D880BD6}"/>
                </a:ext>
              </a:extLst>
            </p:cNvPr>
            <p:cNvSpPr/>
            <p:nvPr/>
          </p:nvSpPr>
          <p:spPr>
            <a:xfrm rot="8456398">
              <a:off x="4335108" y="4103910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9C2C5B5-F637-1620-D244-67900264C317}"/>
                </a:ext>
              </a:extLst>
            </p:cNvPr>
            <p:cNvSpPr/>
            <p:nvPr/>
          </p:nvSpPr>
          <p:spPr>
            <a:xfrm rot="8456398">
              <a:off x="3960484" y="4281460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893BC69C-97C3-05B4-27F0-45681F68D340}"/>
                </a:ext>
              </a:extLst>
            </p:cNvPr>
            <p:cNvSpPr/>
            <p:nvPr/>
          </p:nvSpPr>
          <p:spPr>
            <a:xfrm rot="8456398">
              <a:off x="3642595" y="3768814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8A41C43-6317-5653-D107-230BD8BF5634}"/>
                </a:ext>
              </a:extLst>
            </p:cNvPr>
            <p:cNvSpPr/>
            <p:nvPr/>
          </p:nvSpPr>
          <p:spPr>
            <a:xfrm rot="8456398">
              <a:off x="3225647" y="4205165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F4A6E6F-C5A7-38E6-214D-F2F5C6D6453F}"/>
                </a:ext>
              </a:extLst>
            </p:cNvPr>
            <p:cNvSpPr/>
            <p:nvPr/>
          </p:nvSpPr>
          <p:spPr>
            <a:xfrm rot="8456398">
              <a:off x="4072182" y="4695506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C1AE9F2-B5C8-9C17-3FA0-8BE54B77518B}"/>
                </a:ext>
              </a:extLst>
            </p:cNvPr>
            <p:cNvSpPr/>
            <p:nvPr/>
          </p:nvSpPr>
          <p:spPr>
            <a:xfrm rot="8456398">
              <a:off x="2907556" y="5455975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F4F1CBB-5536-CB9F-2791-0E63E36AE02E}"/>
                </a:ext>
              </a:extLst>
            </p:cNvPr>
            <p:cNvSpPr/>
            <p:nvPr/>
          </p:nvSpPr>
          <p:spPr>
            <a:xfrm rot="8456398">
              <a:off x="3585657" y="4389662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6244497-2F65-96D7-836B-0D24E7418BC5}"/>
                </a:ext>
              </a:extLst>
            </p:cNvPr>
            <p:cNvSpPr/>
            <p:nvPr/>
          </p:nvSpPr>
          <p:spPr>
            <a:xfrm rot="8456398">
              <a:off x="3314069" y="4694178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02C0437-4D88-092D-6398-68F43A1A0341}"/>
                </a:ext>
              </a:extLst>
            </p:cNvPr>
            <p:cNvSpPr/>
            <p:nvPr/>
          </p:nvSpPr>
          <p:spPr>
            <a:xfrm rot="8456398">
              <a:off x="3767545" y="4872921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2E16AE0-DDE4-AF51-D57F-B778E2435512}"/>
                </a:ext>
              </a:extLst>
            </p:cNvPr>
            <p:cNvSpPr/>
            <p:nvPr/>
          </p:nvSpPr>
          <p:spPr>
            <a:xfrm>
              <a:off x="2572806" y="3480165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5F90191-469D-E5DC-257F-0390BCAD647E}"/>
                </a:ext>
              </a:extLst>
            </p:cNvPr>
            <p:cNvCxnSpPr>
              <a:cxnSpLocks/>
            </p:cNvCxnSpPr>
            <p:nvPr/>
          </p:nvCxnSpPr>
          <p:spPr>
            <a:xfrm>
              <a:off x="2858866" y="3037535"/>
              <a:ext cx="528442" cy="281353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2A1D987D-244B-03A9-0B3C-80A0989CD3E9}"/>
              </a:ext>
            </a:extLst>
          </p:cNvPr>
          <p:cNvSpPr txBox="1"/>
          <p:nvPr/>
        </p:nvSpPr>
        <p:spPr>
          <a:xfrm>
            <a:off x="970758" y="4857209"/>
            <a:ext cx="18101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Classification</a:t>
            </a:r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4E0D2D0-357C-2F66-0007-973F27362162}"/>
              </a:ext>
            </a:extLst>
          </p:cNvPr>
          <p:cNvSpPr txBox="1"/>
          <p:nvPr/>
        </p:nvSpPr>
        <p:spPr>
          <a:xfrm>
            <a:off x="6324599" y="4857209"/>
            <a:ext cx="1547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Regression</a:t>
            </a:r>
            <a:endParaRPr lang="en-US" dirty="0"/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6670FF43-81D8-3479-F7C9-7824F808F616}"/>
              </a:ext>
            </a:extLst>
          </p:cNvPr>
          <p:cNvGrpSpPr/>
          <p:nvPr/>
        </p:nvGrpSpPr>
        <p:grpSpPr>
          <a:xfrm>
            <a:off x="8231816" y="4375707"/>
            <a:ext cx="2629960" cy="1690343"/>
            <a:chOff x="8551469" y="4337914"/>
            <a:chExt cx="2629960" cy="1690343"/>
          </a:xfrm>
        </p:grpSpPr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9CFB628A-5536-C0F9-23D2-6444BFCCC377}"/>
                </a:ext>
              </a:extLst>
            </p:cNvPr>
            <p:cNvSpPr/>
            <p:nvPr/>
          </p:nvSpPr>
          <p:spPr>
            <a:xfrm rot="19739660">
              <a:off x="8708368" y="5629634"/>
              <a:ext cx="148480" cy="148480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C93F8FC-023D-0CB7-B4E3-671267287206}"/>
                </a:ext>
              </a:extLst>
            </p:cNvPr>
            <p:cNvSpPr/>
            <p:nvPr/>
          </p:nvSpPr>
          <p:spPr>
            <a:xfrm rot="19739660">
              <a:off x="8953766" y="5553183"/>
              <a:ext cx="148480" cy="148480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D3197B61-F34B-D809-0F38-E9F211561AAB}"/>
                </a:ext>
              </a:extLst>
            </p:cNvPr>
            <p:cNvSpPr/>
            <p:nvPr/>
          </p:nvSpPr>
          <p:spPr>
            <a:xfrm rot="19739660">
              <a:off x="9398239" y="5663853"/>
              <a:ext cx="148480" cy="148480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7E29BFA1-19E3-771D-02CE-ECD100EA730F}"/>
                </a:ext>
              </a:extLst>
            </p:cNvPr>
            <p:cNvSpPr/>
            <p:nvPr/>
          </p:nvSpPr>
          <p:spPr>
            <a:xfrm rot="19739660">
              <a:off x="8921164" y="5289305"/>
              <a:ext cx="148480" cy="148480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5BD67CE6-50BB-9D17-EAA2-F8D78169DB4B}"/>
                </a:ext>
              </a:extLst>
            </p:cNvPr>
            <p:cNvSpPr/>
            <p:nvPr/>
          </p:nvSpPr>
          <p:spPr>
            <a:xfrm rot="19739660">
              <a:off x="9193263" y="5519321"/>
              <a:ext cx="148480" cy="148480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9045A5FC-007F-4C86-41A4-6C2B436331E0}"/>
                </a:ext>
              </a:extLst>
            </p:cNvPr>
            <p:cNvSpPr/>
            <p:nvPr/>
          </p:nvSpPr>
          <p:spPr>
            <a:xfrm rot="19739660">
              <a:off x="9386439" y="5355977"/>
              <a:ext cx="148480" cy="148480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D078D05A-3806-ED3F-E164-C0C1E5F512E4}"/>
                </a:ext>
              </a:extLst>
            </p:cNvPr>
            <p:cNvSpPr/>
            <p:nvPr/>
          </p:nvSpPr>
          <p:spPr>
            <a:xfrm rot="19739660">
              <a:off x="9123586" y="5206857"/>
              <a:ext cx="148480" cy="148480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7CF32CF7-0971-0150-DB89-616DAD2854B8}"/>
                </a:ext>
              </a:extLst>
            </p:cNvPr>
            <p:cNvSpPr/>
            <p:nvPr/>
          </p:nvSpPr>
          <p:spPr>
            <a:xfrm rot="6596058">
              <a:off x="10084361" y="4710617"/>
              <a:ext cx="148480" cy="148480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D8504127-A204-118F-2717-A8942E496868}"/>
                </a:ext>
              </a:extLst>
            </p:cNvPr>
            <p:cNvSpPr/>
            <p:nvPr/>
          </p:nvSpPr>
          <p:spPr>
            <a:xfrm rot="6596058">
              <a:off x="9941988" y="4924614"/>
              <a:ext cx="148480" cy="148480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AF193AA5-06C1-5EFA-3B94-8DDF4991CD84}"/>
                </a:ext>
              </a:extLst>
            </p:cNvPr>
            <p:cNvSpPr/>
            <p:nvPr/>
          </p:nvSpPr>
          <p:spPr>
            <a:xfrm rot="6596058">
              <a:off x="9527123" y="5118758"/>
              <a:ext cx="148480" cy="148480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7BA4856F-5869-A2BC-866F-F1262C1C20A3}"/>
                </a:ext>
              </a:extLst>
            </p:cNvPr>
            <p:cNvSpPr/>
            <p:nvPr/>
          </p:nvSpPr>
          <p:spPr>
            <a:xfrm rot="6596058">
              <a:off x="10133580" y="5108968"/>
              <a:ext cx="148480" cy="148480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C66B52B0-70B0-652E-26FC-BDFB12525BF1}"/>
                </a:ext>
              </a:extLst>
            </p:cNvPr>
            <p:cNvSpPr/>
            <p:nvPr/>
          </p:nvSpPr>
          <p:spPr>
            <a:xfrm rot="6596058">
              <a:off x="9777358" y="5101823"/>
              <a:ext cx="148480" cy="148480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7CAED13D-4D4B-7AEF-F8B8-6034ACA9F225}"/>
                </a:ext>
              </a:extLst>
            </p:cNvPr>
            <p:cNvSpPr/>
            <p:nvPr/>
          </p:nvSpPr>
          <p:spPr>
            <a:xfrm rot="6596058">
              <a:off x="9730289" y="5350383"/>
              <a:ext cx="148480" cy="148480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2ABF1234-A9F4-A1A2-7483-3E0FED23D7B8}"/>
                </a:ext>
              </a:extLst>
            </p:cNvPr>
            <p:cNvSpPr/>
            <p:nvPr/>
          </p:nvSpPr>
          <p:spPr>
            <a:xfrm rot="6596058">
              <a:off x="10028355" y="5300541"/>
              <a:ext cx="148480" cy="148480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BE308F1F-D4A7-86E0-9DB7-B87C5DF1D205}"/>
                </a:ext>
              </a:extLst>
            </p:cNvPr>
            <p:cNvSpPr/>
            <p:nvPr/>
          </p:nvSpPr>
          <p:spPr>
            <a:xfrm rot="6596058">
              <a:off x="11032949" y="4680511"/>
              <a:ext cx="148480" cy="148480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F6C09700-6447-40CA-5277-6A3A18DA3BD4}"/>
                </a:ext>
              </a:extLst>
            </p:cNvPr>
            <p:cNvSpPr/>
            <p:nvPr/>
          </p:nvSpPr>
          <p:spPr>
            <a:xfrm rot="6596058">
              <a:off x="10545924" y="4427105"/>
              <a:ext cx="148480" cy="148480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0EE0B63A-0FAA-6277-93FB-AB7F3EC902DB}"/>
                </a:ext>
              </a:extLst>
            </p:cNvPr>
            <p:cNvSpPr/>
            <p:nvPr/>
          </p:nvSpPr>
          <p:spPr>
            <a:xfrm rot="6596058">
              <a:off x="10737516" y="4611459"/>
              <a:ext cx="148480" cy="148480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15E4E260-53FA-C068-4E84-B9D96B359245}"/>
                </a:ext>
              </a:extLst>
            </p:cNvPr>
            <p:cNvSpPr/>
            <p:nvPr/>
          </p:nvSpPr>
          <p:spPr>
            <a:xfrm rot="6596058">
              <a:off x="10381294" y="4604314"/>
              <a:ext cx="148480" cy="148480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C053489C-A33F-D7A7-939A-1F98D5A29291}"/>
                </a:ext>
              </a:extLst>
            </p:cNvPr>
            <p:cNvSpPr/>
            <p:nvPr/>
          </p:nvSpPr>
          <p:spPr>
            <a:xfrm rot="6596058">
              <a:off x="10334225" y="4852874"/>
              <a:ext cx="148480" cy="148480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937D8977-5B12-60DF-1F14-71CD0C06D8C3}"/>
                </a:ext>
              </a:extLst>
            </p:cNvPr>
            <p:cNvSpPr/>
            <p:nvPr/>
          </p:nvSpPr>
          <p:spPr>
            <a:xfrm rot="6596058">
              <a:off x="10632291" y="4803032"/>
              <a:ext cx="148480" cy="148480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F0AA762F-5D06-722B-CB0E-C88ACC83B8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1469" y="4337914"/>
              <a:ext cx="2555720" cy="1690343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C8F552C-C985-BDCB-7FF5-AC198CF6B758}"/>
              </a:ext>
            </a:extLst>
          </p:cNvPr>
          <p:cNvSpPr/>
          <p:nvPr/>
        </p:nvSpPr>
        <p:spPr>
          <a:xfrm>
            <a:off x="729777" y="4098128"/>
            <a:ext cx="5114306" cy="219837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810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8B286-C6F3-FB7F-EB9A-307D31CF0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8FF5-3982-4C34-3787-526E11EA7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0E455-00C6-F74A-63FA-C57C51446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415"/>
            <a:ext cx="10820400" cy="1571500"/>
          </a:xfrm>
        </p:spPr>
        <p:txBody>
          <a:bodyPr/>
          <a:lstStyle/>
          <a:p>
            <a:r>
              <a:rPr lang="en-US" dirty="0"/>
              <a:t>Linear models are powerful but real data is very rarely so cleanly separable.  </a:t>
            </a:r>
          </a:p>
          <a:p>
            <a:r>
              <a:rPr lang="en-US" dirty="0"/>
              <a:t>When tackling nonlinear classification problems, linear models will misclassify. 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3892422-3A78-C13B-94FF-AEBD30210545}"/>
              </a:ext>
            </a:extLst>
          </p:cNvPr>
          <p:cNvGrpSpPr/>
          <p:nvPr/>
        </p:nvGrpSpPr>
        <p:grpSpPr>
          <a:xfrm>
            <a:off x="2049304" y="3230699"/>
            <a:ext cx="2350222" cy="2275992"/>
            <a:chOff x="1669293" y="3037535"/>
            <a:chExt cx="2905301" cy="2813539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113F8AC-388B-FA1C-ADAC-20EDACB43266}"/>
                </a:ext>
              </a:extLst>
            </p:cNvPr>
            <p:cNvSpPr/>
            <p:nvPr/>
          </p:nvSpPr>
          <p:spPr>
            <a:xfrm>
              <a:off x="1669293" y="4231167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27009BE-B931-DA82-D6FC-DC2F3724D5C8}"/>
                </a:ext>
              </a:extLst>
            </p:cNvPr>
            <p:cNvSpPr/>
            <p:nvPr/>
          </p:nvSpPr>
          <p:spPr>
            <a:xfrm>
              <a:off x="2072064" y="4329365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37375F8-CDB4-FBE0-FFAD-3454FDE2E520}"/>
                </a:ext>
              </a:extLst>
            </p:cNvPr>
            <p:cNvSpPr/>
            <p:nvPr/>
          </p:nvSpPr>
          <p:spPr>
            <a:xfrm>
              <a:off x="1995864" y="4927740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8BA940D-BD97-2F3F-C898-38E7404C9FCF}"/>
                </a:ext>
              </a:extLst>
            </p:cNvPr>
            <p:cNvSpPr/>
            <p:nvPr/>
          </p:nvSpPr>
          <p:spPr>
            <a:xfrm>
              <a:off x="2594578" y="4851653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B020572-0351-805F-46C2-C19C24B4E7AE}"/>
                </a:ext>
              </a:extLst>
            </p:cNvPr>
            <p:cNvSpPr/>
            <p:nvPr/>
          </p:nvSpPr>
          <p:spPr>
            <a:xfrm>
              <a:off x="2246236" y="3937479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143EC5A-2607-0479-1D50-CF46F510BC03}"/>
                </a:ext>
              </a:extLst>
            </p:cNvPr>
            <p:cNvSpPr/>
            <p:nvPr/>
          </p:nvSpPr>
          <p:spPr>
            <a:xfrm>
              <a:off x="3095799" y="3644751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A24E520-C546-C730-6C55-8319EE64F184}"/>
                </a:ext>
              </a:extLst>
            </p:cNvPr>
            <p:cNvSpPr/>
            <p:nvPr/>
          </p:nvSpPr>
          <p:spPr>
            <a:xfrm>
              <a:off x="2431293" y="4481539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A763653-C248-452C-9157-5F4220BA8955}"/>
                </a:ext>
              </a:extLst>
            </p:cNvPr>
            <p:cNvSpPr/>
            <p:nvPr/>
          </p:nvSpPr>
          <p:spPr>
            <a:xfrm>
              <a:off x="2834064" y="4416224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FD62809-EC2C-B10F-9888-CED238CC9309}"/>
                </a:ext>
              </a:extLst>
            </p:cNvPr>
            <p:cNvSpPr/>
            <p:nvPr/>
          </p:nvSpPr>
          <p:spPr>
            <a:xfrm>
              <a:off x="2594578" y="3991681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CBC6F20-D85E-FD52-5B30-5205A10D80D8}"/>
                </a:ext>
              </a:extLst>
            </p:cNvPr>
            <p:cNvSpPr/>
            <p:nvPr/>
          </p:nvSpPr>
          <p:spPr>
            <a:xfrm rot="8456398">
              <a:off x="4335108" y="4103910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FE95BE5-2296-842C-7630-E7233FFF47F8}"/>
                </a:ext>
              </a:extLst>
            </p:cNvPr>
            <p:cNvSpPr/>
            <p:nvPr/>
          </p:nvSpPr>
          <p:spPr>
            <a:xfrm rot="8456398">
              <a:off x="3960484" y="4281460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565A281-170D-F39D-2AF5-36DC230B9799}"/>
                </a:ext>
              </a:extLst>
            </p:cNvPr>
            <p:cNvSpPr/>
            <p:nvPr/>
          </p:nvSpPr>
          <p:spPr>
            <a:xfrm rot="8456398">
              <a:off x="3642595" y="3768814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128F0DB-5045-7EB8-04BC-9357D2CC1306}"/>
                </a:ext>
              </a:extLst>
            </p:cNvPr>
            <p:cNvSpPr/>
            <p:nvPr/>
          </p:nvSpPr>
          <p:spPr>
            <a:xfrm rot="8456398">
              <a:off x="3225647" y="4205165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FD0FFEF-3B29-1BAF-029D-34D2B238A566}"/>
                </a:ext>
              </a:extLst>
            </p:cNvPr>
            <p:cNvSpPr/>
            <p:nvPr/>
          </p:nvSpPr>
          <p:spPr>
            <a:xfrm rot="8456398">
              <a:off x="4072182" y="4695506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396AF96-7398-F431-81CF-331FC7A81ED0}"/>
                </a:ext>
              </a:extLst>
            </p:cNvPr>
            <p:cNvSpPr/>
            <p:nvPr/>
          </p:nvSpPr>
          <p:spPr>
            <a:xfrm rot="8456398">
              <a:off x="2907556" y="5455975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492404-FDC9-A3DE-C1F1-D200EC2D8DE9}"/>
                </a:ext>
              </a:extLst>
            </p:cNvPr>
            <p:cNvSpPr/>
            <p:nvPr/>
          </p:nvSpPr>
          <p:spPr>
            <a:xfrm rot="8456398">
              <a:off x="3585657" y="4389662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4CCFEA7-C34D-8029-8C64-1391B416B872}"/>
                </a:ext>
              </a:extLst>
            </p:cNvPr>
            <p:cNvSpPr/>
            <p:nvPr/>
          </p:nvSpPr>
          <p:spPr>
            <a:xfrm rot="8456398">
              <a:off x="3314069" y="4694178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29AD61F4-1276-7381-13DD-78B8C67B3AA2}"/>
                </a:ext>
              </a:extLst>
            </p:cNvPr>
            <p:cNvSpPr/>
            <p:nvPr/>
          </p:nvSpPr>
          <p:spPr>
            <a:xfrm rot="8456398">
              <a:off x="3767545" y="4872921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2D772F9-572B-2526-4FDB-D51D99BD6AE7}"/>
                </a:ext>
              </a:extLst>
            </p:cNvPr>
            <p:cNvSpPr/>
            <p:nvPr/>
          </p:nvSpPr>
          <p:spPr>
            <a:xfrm>
              <a:off x="2572806" y="3480165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4076AF4-27CB-A0FC-2CD2-BE09B9823F5C}"/>
                </a:ext>
              </a:extLst>
            </p:cNvPr>
            <p:cNvCxnSpPr>
              <a:cxnSpLocks/>
            </p:cNvCxnSpPr>
            <p:nvPr/>
          </p:nvCxnSpPr>
          <p:spPr>
            <a:xfrm>
              <a:off x="2858866" y="3037535"/>
              <a:ext cx="528442" cy="281353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6614C6F-3BD7-2B26-AA4B-A75AB079E53A}"/>
              </a:ext>
            </a:extLst>
          </p:cNvPr>
          <p:cNvGrpSpPr/>
          <p:nvPr/>
        </p:nvGrpSpPr>
        <p:grpSpPr>
          <a:xfrm>
            <a:off x="5639478" y="3218214"/>
            <a:ext cx="4173457" cy="2693251"/>
            <a:chOff x="5259468" y="2926501"/>
            <a:chExt cx="5159150" cy="3329347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658D9CA-2FB7-F8EA-5204-A8D6A7FA9C8A}"/>
                </a:ext>
              </a:extLst>
            </p:cNvPr>
            <p:cNvSpPr/>
            <p:nvPr/>
          </p:nvSpPr>
          <p:spPr>
            <a:xfrm>
              <a:off x="6215208" y="4698229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2F916F0-D9CD-C39F-58C7-40A935A6210F}"/>
                </a:ext>
              </a:extLst>
            </p:cNvPr>
            <p:cNvSpPr/>
            <p:nvPr/>
          </p:nvSpPr>
          <p:spPr>
            <a:xfrm>
              <a:off x="7227359" y="5298023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AF097B1-2F34-EC99-791B-03603EAC8718}"/>
                </a:ext>
              </a:extLst>
            </p:cNvPr>
            <p:cNvSpPr/>
            <p:nvPr/>
          </p:nvSpPr>
          <p:spPr>
            <a:xfrm>
              <a:off x="6814308" y="5096108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783F441-8A7A-5947-AEF8-EF2A7A146404}"/>
                </a:ext>
              </a:extLst>
            </p:cNvPr>
            <p:cNvSpPr/>
            <p:nvPr/>
          </p:nvSpPr>
          <p:spPr>
            <a:xfrm>
              <a:off x="6454694" y="5118383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FC079D2-BA2B-C2ED-65D0-1A704BFEB337}"/>
                </a:ext>
              </a:extLst>
            </p:cNvPr>
            <p:cNvSpPr/>
            <p:nvPr/>
          </p:nvSpPr>
          <p:spPr>
            <a:xfrm>
              <a:off x="7141914" y="4243466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1A5B0C5-6EE6-D007-987F-BCBED5E67289}"/>
                </a:ext>
              </a:extLst>
            </p:cNvPr>
            <p:cNvSpPr/>
            <p:nvPr/>
          </p:nvSpPr>
          <p:spPr>
            <a:xfrm>
              <a:off x="7989665" y="4100927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7AED622-A983-77E0-7487-5D7F6C85E807}"/>
                </a:ext>
              </a:extLst>
            </p:cNvPr>
            <p:cNvSpPr/>
            <p:nvPr/>
          </p:nvSpPr>
          <p:spPr>
            <a:xfrm>
              <a:off x="7325159" y="4937715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5AB4C5D4-5B1D-FB91-4D5E-E2EAD8E42416}"/>
                </a:ext>
              </a:extLst>
            </p:cNvPr>
            <p:cNvSpPr/>
            <p:nvPr/>
          </p:nvSpPr>
          <p:spPr>
            <a:xfrm>
              <a:off x="7672993" y="4971313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38E019C-1C82-8F4F-337D-096FC0EA9BA3}"/>
                </a:ext>
              </a:extLst>
            </p:cNvPr>
            <p:cNvSpPr/>
            <p:nvPr/>
          </p:nvSpPr>
          <p:spPr>
            <a:xfrm>
              <a:off x="7399129" y="4578486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CB258C5-3BA0-A0C1-D4F9-4BE53746DC19}"/>
                </a:ext>
              </a:extLst>
            </p:cNvPr>
            <p:cNvSpPr/>
            <p:nvPr/>
          </p:nvSpPr>
          <p:spPr>
            <a:xfrm rot="8456398">
              <a:off x="9228974" y="4560086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FE9B3AA-E5E9-655C-D9D1-E2C57C0FB9A9}"/>
                </a:ext>
              </a:extLst>
            </p:cNvPr>
            <p:cNvSpPr/>
            <p:nvPr/>
          </p:nvSpPr>
          <p:spPr>
            <a:xfrm rot="8456398">
              <a:off x="8854350" y="4737636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F4E62D0-14DF-ED80-570F-020A9E598B99}"/>
                </a:ext>
              </a:extLst>
            </p:cNvPr>
            <p:cNvSpPr/>
            <p:nvPr/>
          </p:nvSpPr>
          <p:spPr>
            <a:xfrm rot="8456398">
              <a:off x="8536461" y="4224990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59635FE-BD7D-353A-3059-0DE335C3ED52}"/>
                </a:ext>
              </a:extLst>
            </p:cNvPr>
            <p:cNvSpPr/>
            <p:nvPr/>
          </p:nvSpPr>
          <p:spPr>
            <a:xfrm rot="8456398">
              <a:off x="8119513" y="4661341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9AAE77A-0CA7-7B62-E752-336E51D306B3}"/>
                </a:ext>
              </a:extLst>
            </p:cNvPr>
            <p:cNvSpPr/>
            <p:nvPr/>
          </p:nvSpPr>
          <p:spPr>
            <a:xfrm rot="8456398">
              <a:off x="8966048" y="5151682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97E7D62E-FC45-821E-05CE-0E3439918C0A}"/>
                </a:ext>
              </a:extLst>
            </p:cNvPr>
            <p:cNvSpPr/>
            <p:nvPr/>
          </p:nvSpPr>
          <p:spPr>
            <a:xfrm rot="8456398">
              <a:off x="7742769" y="2976744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6405A0C-6953-CD83-5949-4507513E046F}"/>
                </a:ext>
              </a:extLst>
            </p:cNvPr>
            <p:cNvSpPr/>
            <p:nvPr/>
          </p:nvSpPr>
          <p:spPr>
            <a:xfrm rot="8456398">
              <a:off x="8479523" y="4845838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902CDE2B-8C82-531C-26FA-4F72D72B5E6C}"/>
                </a:ext>
              </a:extLst>
            </p:cNvPr>
            <p:cNvSpPr/>
            <p:nvPr/>
          </p:nvSpPr>
          <p:spPr>
            <a:xfrm rot="8456398">
              <a:off x="8207935" y="5150354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9B16AAB1-9C83-F217-BC93-D15F43CAC733}"/>
                </a:ext>
              </a:extLst>
            </p:cNvPr>
            <p:cNvSpPr/>
            <p:nvPr/>
          </p:nvSpPr>
          <p:spPr>
            <a:xfrm rot="8456398">
              <a:off x="8661411" y="5329097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7815F41-9A6A-1854-106D-DB38F40A1470}"/>
                </a:ext>
              </a:extLst>
            </p:cNvPr>
            <p:cNvSpPr/>
            <p:nvPr/>
          </p:nvSpPr>
          <p:spPr>
            <a:xfrm>
              <a:off x="7436661" y="3761884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B679F0F-9F29-5C5C-68A2-5E929124008F}"/>
                </a:ext>
              </a:extLst>
            </p:cNvPr>
            <p:cNvSpPr/>
            <p:nvPr/>
          </p:nvSpPr>
          <p:spPr>
            <a:xfrm>
              <a:off x="7862512" y="3741333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88FE17BF-1112-7D50-A9A6-F0C5B988B504}"/>
                </a:ext>
              </a:extLst>
            </p:cNvPr>
            <p:cNvSpPr/>
            <p:nvPr/>
          </p:nvSpPr>
          <p:spPr>
            <a:xfrm>
              <a:off x="8359780" y="3731298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8BDD0568-11E3-16B7-2E76-A3B90D5991C2}"/>
                </a:ext>
              </a:extLst>
            </p:cNvPr>
            <p:cNvSpPr/>
            <p:nvPr/>
          </p:nvSpPr>
          <p:spPr>
            <a:xfrm>
              <a:off x="8781154" y="3790821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52B39A0E-A4A3-CC03-059E-E06B9A6CD7F9}"/>
                </a:ext>
              </a:extLst>
            </p:cNvPr>
            <p:cNvSpPr/>
            <p:nvPr/>
          </p:nvSpPr>
          <p:spPr>
            <a:xfrm>
              <a:off x="7888272" y="5391647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1D6B45B9-B0FB-E16B-05D6-45019BBC14A1}"/>
                </a:ext>
              </a:extLst>
            </p:cNvPr>
            <p:cNvSpPr/>
            <p:nvPr/>
          </p:nvSpPr>
          <p:spPr>
            <a:xfrm>
              <a:off x="7467028" y="5722830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AC466EFE-D69E-BB09-95AD-06D302CA51CE}"/>
                </a:ext>
              </a:extLst>
            </p:cNvPr>
            <p:cNvSpPr/>
            <p:nvPr/>
          </p:nvSpPr>
          <p:spPr>
            <a:xfrm>
              <a:off x="9060541" y="4184020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F3D7D70-3602-ECD0-F773-DE2D488A273C}"/>
                </a:ext>
              </a:extLst>
            </p:cNvPr>
            <p:cNvSpPr/>
            <p:nvPr/>
          </p:nvSpPr>
          <p:spPr>
            <a:xfrm>
              <a:off x="8566174" y="3339245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855DA0B7-1CE4-66C8-F44E-CEE2184CCC02}"/>
                </a:ext>
              </a:extLst>
            </p:cNvPr>
            <p:cNvSpPr/>
            <p:nvPr/>
          </p:nvSpPr>
          <p:spPr>
            <a:xfrm>
              <a:off x="7325159" y="3458988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96EC7A4-A1CC-5444-3A7F-415DE00253F1}"/>
                </a:ext>
              </a:extLst>
            </p:cNvPr>
            <p:cNvSpPr/>
            <p:nvPr/>
          </p:nvSpPr>
          <p:spPr>
            <a:xfrm>
              <a:off x="6111827" y="4023213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DF42A9D8-97BB-7027-20C0-2F0F924EA2DB}"/>
                </a:ext>
              </a:extLst>
            </p:cNvPr>
            <p:cNvSpPr/>
            <p:nvPr/>
          </p:nvSpPr>
          <p:spPr>
            <a:xfrm>
              <a:off x="6893987" y="3798384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AD0F0799-2020-E19A-11DD-496082D480C3}"/>
                </a:ext>
              </a:extLst>
            </p:cNvPr>
            <p:cNvSpPr/>
            <p:nvPr/>
          </p:nvSpPr>
          <p:spPr>
            <a:xfrm>
              <a:off x="6823786" y="4615200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299D7179-8292-0FAE-89B7-662F269D3CE5}"/>
                </a:ext>
              </a:extLst>
            </p:cNvPr>
            <p:cNvSpPr/>
            <p:nvPr/>
          </p:nvSpPr>
          <p:spPr>
            <a:xfrm>
              <a:off x="6520559" y="4163192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9414A247-57D1-8ED5-4721-386C8BED7E5A}"/>
                </a:ext>
              </a:extLst>
            </p:cNvPr>
            <p:cNvSpPr/>
            <p:nvPr/>
          </p:nvSpPr>
          <p:spPr>
            <a:xfrm rot="21379643">
              <a:off x="7784205" y="5895893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D3ADA00-BB0D-547A-2652-56EAD79A6F4B}"/>
                </a:ext>
              </a:extLst>
            </p:cNvPr>
            <p:cNvSpPr/>
            <p:nvPr/>
          </p:nvSpPr>
          <p:spPr>
            <a:xfrm rot="21379643">
              <a:off x="6634827" y="5793156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6C35A8A-0CC7-204A-988D-449767EDCEB9}"/>
                </a:ext>
              </a:extLst>
            </p:cNvPr>
            <p:cNvSpPr/>
            <p:nvPr/>
          </p:nvSpPr>
          <p:spPr>
            <a:xfrm rot="21379643">
              <a:off x="7152218" y="5949080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CD1EEF5E-09A1-C983-7589-819C618DF75D}"/>
                </a:ext>
              </a:extLst>
            </p:cNvPr>
            <p:cNvSpPr/>
            <p:nvPr/>
          </p:nvSpPr>
          <p:spPr>
            <a:xfrm>
              <a:off x="6574822" y="3595283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133F20F0-B263-A8EA-0F8E-1C4DA65B79BC}"/>
                </a:ext>
              </a:extLst>
            </p:cNvPr>
            <p:cNvSpPr/>
            <p:nvPr/>
          </p:nvSpPr>
          <p:spPr>
            <a:xfrm>
              <a:off x="8404535" y="5674811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A35B3F09-2CDA-CEB2-1E80-D9E7EAC0FB38}"/>
                </a:ext>
              </a:extLst>
            </p:cNvPr>
            <p:cNvSpPr/>
            <p:nvPr/>
          </p:nvSpPr>
          <p:spPr>
            <a:xfrm rot="8456398">
              <a:off x="8083414" y="3304049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3148A96F-8AF1-BAFA-066E-D695BDC7C242}"/>
                </a:ext>
              </a:extLst>
            </p:cNvPr>
            <p:cNvSpPr/>
            <p:nvPr/>
          </p:nvSpPr>
          <p:spPr>
            <a:xfrm rot="8456398">
              <a:off x="9124374" y="3471768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1B8EA484-7E8A-2BFB-887A-BCA27B787948}"/>
                </a:ext>
              </a:extLst>
            </p:cNvPr>
            <p:cNvSpPr/>
            <p:nvPr/>
          </p:nvSpPr>
          <p:spPr>
            <a:xfrm rot="8456398">
              <a:off x="8423162" y="2926501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A14B329B-D141-240A-775C-31D56FB3036F}"/>
                </a:ext>
              </a:extLst>
            </p:cNvPr>
            <p:cNvSpPr/>
            <p:nvPr/>
          </p:nvSpPr>
          <p:spPr>
            <a:xfrm>
              <a:off x="6955715" y="3047549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58E46CCA-F26B-D768-8C77-C6580CF11D43}"/>
                </a:ext>
              </a:extLst>
            </p:cNvPr>
            <p:cNvSpPr/>
            <p:nvPr/>
          </p:nvSpPr>
          <p:spPr>
            <a:xfrm>
              <a:off x="7750179" y="4386693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65953622-CD2E-93E1-F17E-C7F1BBBCA22A}"/>
                </a:ext>
              </a:extLst>
            </p:cNvPr>
            <p:cNvSpPr/>
            <p:nvPr/>
          </p:nvSpPr>
          <p:spPr>
            <a:xfrm rot="21379643">
              <a:off x="6215208" y="5468515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743C0E70-2B49-43B4-9C4C-6F1964019DD2}"/>
                </a:ext>
              </a:extLst>
            </p:cNvPr>
            <p:cNvSpPr/>
            <p:nvPr/>
          </p:nvSpPr>
          <p:spPr>
            <a:xfrm rot="21379643">
              <a:off x="5766065" y="5414088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C9F801B8-B929-5575-E29E-1DF149CD1E1C}"/>
                </a:ext>
              </a:extLst>
            </p:cNvPr>
            <p:cNvSpPr/>
            <p:nvPr/>
          </p:nvSpPr>
          <p:spPr>
            <a:xfrm rot="21379643">
              <a:off x="6130008" y="6016362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FA60B7CE-8FD6-29C0-80ED-8D5BF74193CB}"/>
                </a:ext>
              </a:extLst>
            </p:cNvPr>
            <p:cNvSpPr/>
            <p:nvPr/>
          </p:nvSpPr>
          <p:spPr>
            <a:xfrm rot="8456398">
              <a:off x="9706278" y="3657556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1921DF02-E8B8-2503-2DDB-865637EF2114}"/>
                </a:ext>
              </a:extLst>
            </p:cNvPr>
            <p:cNvSpPr/>
            <p:nvPr/>
          </p:nvSpPr>
          <p:spPr>
            <a:xfrm rot="8456398">
              <a:off x="9461504" y="3940109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17B686C-346A-3EC3-AF60-419377D6498F}"/>
                </a:ext>
              </a:extLst>
            </p:cNvPr>
            <p:cNvSpPr/>
            <p:nvPr/>
          </p:nvSpPr>
          <p:spPr>
            <a:xfrm rot="8456398">
              <a:off x="9213116" y="3003426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A9873E23-E244-F78B-8C91-ABFBBE0D7A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9468" y="3422311"/>
              <a:ext cx="5159150" cy="1981241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4064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FB80B-62A5-5851-F779-31394E394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68468-D86F-CA8C-D2C8-3EA638146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Overcoming nonlinear decision boundaries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928B1-B5E4-5D9F-2D91-C4D4FBF3F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415"/>
            <a:ext cx="10820400" cy="1571500"/>
          </a:xfrm>
        </p:spPr>
        <p:txBody>
          <a:bodyPr/>
          <a:lstStyle/>
          <a:p>
            <a:r>
              <a:rPr lang="en-US" dirty="0"/>
              <a:t>So how do we get around this?</a:t>
            </a:r>
          </a:p>
          <a:p>
            <a:r>
              <a:rPr lang="en-US" dirty="0"/>
              <a:t>We are going to cover 2 approaches:</a:t>
            </a: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977A5001-2FB3-9C13-A85A-CB388704567A}"/>
              </a:ext>
            </a:extLst>
          </p:cNvPr>
          <p:cNvGrpSpPr/>
          <p:nvPr/>
        </p:nvGrpSpPr>
        <p:grpSpPr>
          <a:xfrm>
            <a:off x="6849905" y="3605867"/>
            <a:ext cx="3370329" cy="2615679"/>
            <a:chOff x="3855525" y="2986218"/>
            <a:chExt cx="4289898" cy="332934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3755DDE-9492-C5C5-9067-98CBDAB2B73A}"/>
                </a:ext>
              </a:extLst>
            </p:cNvPr>
            <p:cNvSpPr/>
            <p:nvPr/>
          </p:nvSpPr>
          <p:spPr>
            <a:xfrm>
              <a:off x="4414867" y="4757946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CD74C3F-F4D8-D590-C0B9-8F20D567A531}"/>
                </a:ext>
              </a:extLst>
            </p:cNvPr>
            <p:cNvSpPr/>
            <p:nvPr/>
          </p:nvSpPr>
          <p:spPr>
            <a:xfrm>
              <a:off x="5427018" y="5357740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C962CF1-92D2-5D0F-FD94-568C514DEB96}"/>
                </a:ext>
              </a:extLst>
            </p:cNvPr>
            <p:cNvSpPr/>
            <p:nvPr/>
          </p:nvSpPr>
          <p:spPr>
            <a:xfrm>
              <a:off x="5013967" y="5155825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7BFDDFA-091A-E961-B4FB-EC5FBE2D34FC}"/>
                </a:ext>
              </a:extLst>
            </p:cNvPr>
            <p:cNvSpPr/>
            <p:nvPr/>
          </p:nvSpPr>
          <p:spPr>
            <a:xfrm>
              <a:off x="4654353" y="5178100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5754B2D-88F9-1FCA-F43D-04612D989861}"/>
                </a:ext>
              </a:extLst>
            </p:cNvPr>
            <p:cNvSpPr/>
            <p:nvPr/>
          </p:nvSpPr>
          <p:spPr>
            <a:xfrm>
              <a:off x="5341573" y="4303183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8FAF808-1990-5258-151D-F6D7C4CC51CA}"/>
                </a:ext>
              </a:extLst>
            </p:cNvPr>
            <p:cNvSpPr/>
            <p:nvPr/>
          </p:nvSpPr>
          <p:spPr>
            <a:xfrm>
              <a:off x="6189324" y="4160644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CB05834-46A7-EBA2-23A1-58BF8E0A88CF}"/>
                </a:ext>
              </a:extLst>
            </p:cNvPr>
            <p:cNvSpPr/>
            <p:nvPr/>
          </p:nvSpPr>
          <p:spPr>
            <a:xfrm>
              <a:off x="5524818" y="4997432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232348A-CD11-DE18-3A7D-93FC424252EB}"/>
                </a:ext>
              </a:extLst>
            </p:cNvPr>
            <p:cNvSpPr/>
            <p:nvPr/>
          </p:nvSpPr>
          <p:spPr>
            <a:xfrm>
              <a:off x="5872652" y="5031030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150D21C-D26F-58C6-18A8-03C360724BA8}"/>
                </a:ext>
              </a:extLst>
            </p:cNvPr>
            <p:cNvSpPr/>
            <p:nvPr/>
          </p:nvSpPr>
          <p:spPr>
            <a:xfrm>
              <a:off x="5598788" y="4638203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1A1CBBB-6EFC-42FB-D860-0FF1F89933D9}"/>
                </a:ext>
              </a:extLst>
            </p:cNvPr>
            <p:cNvSpPr/>
            <p:nvPr/>
          </p:nvSpPr>
          <p:spPr>
            <a:xfrm rot="8456398">
              <a:off x="7428633" y="4619803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3D78B47-9426-D8BB-EAAC-633806D5F476}"/>
                </a:ext>
              </a:extLst>
            </p:cNvPr>
            <p:cNvSpPr/>
            <p:nvPr/>
          </p:nvSpPr>
          <p:spPr>
            <a:xfrm rot="8456398">
              <a:off x="7054009" y="4797353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2DC314D-3106-1398-6787-E9EE6A736970}"/>
                </a:ext>
              </a:extLst>
            </p:cNvPr>
            <p:cNvSpPr/>
            <p:nvPr/>
          </p:nvSpPr>
          <p:spPr>
            <a:xfrm rot="8456398">
              <a:off x="6736120" y="4284707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DB85369-A8E8-25FC-C59D-7FA92497987B}"/>
                </a:ext>
              </a:extLst>
            </p:cNvPr>
            <p:cNvSpPr/>
            <p:nvPr/>
          </p:nvSpPr>
          <p:spPr>
            <a:xfrm rot="8456398">
              <a:off x="6319172" y="4721058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E7B82A2-36E9-8BE3-72DA-99168DD347AE}"/>
                </a:ext>
              </a:extLst>
            </p:cNvPr>
            <p:cNvSpPr/>
            <p:nvPr/>
          </p:nvSpPr>
          <p:spPr>
            <a:xfrm rot="8456398">
              <a:off x="7165707" y="5211399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9CA4366-9CE1-63BD-9D07-6A2160A8F96B}"/>
                </a:ext>
              </a:extLst>
            </p:cNvPr>
            <p:cNvSpPr/>
            <p:nvPr/>
          </p:nvSpPr>
          <p:spPr>
            <a:xfrm rot="8456398">
              <a:off x="5942428" y="3036461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458562E-BE53-334C-3220-B1631DE7D461}"/>
                </a:ext>
              </a:extLst>
            </p:cNvPr>
            <p:cNvSpPr/>
            <p:nvPr/>
          </p:nvSpPr>
          <p:spPr>
            <a:xfrm rot="8456398">
              <a:off x="6679182" y="4905555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766D045-47E2-6F1F-DD15-C6564499C78B}"/>
                </a:ext>
              </a:extLst>
            </p:cNvPr>
            <p:cNvSpPr/>
            <p:nvPr/>
          </p:nvSpPr>
          <p:spPr>
            <a:xfrm rot="8456398">
              <a:off x="6407594" y="5210071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CFBA876-1990-830E-61C9-413DE4A0899B}"/>
                </a:ext>
              </a:extLst>
            </p:cNvPr>
            <p:cNvSpPr/>
            <p:nvPr/>
          </p:nvSpPr>
          <p:spPr>
            <a:xfrm rot="8456398">
              <a:off x="6861070" y="5388814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FCE68DA-6CC6-7A22-65A4-ED3593E1BC7A}"/>
                </a:ext>
              </a:extLst>
            </p:cNvPr>
            <p:cNvSpPr/>
            <p:nvPr/>
          </p:nvSpPr>
          <p:spPr>
            <a:xfrm>
              <a:off x="5636320" y="3821601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71BEE63-141E-8AA6-07AD-D4A3ED7ACCE3}"/>
                </a:ext>
              </a:extLst>
            </p:cNvPr>
            <p:cNvSpPr/>
            <p:nvPr/>
          </p:nvSpPr>
          <p:spPr>
            <a:xfrm>
              <a:off x="6062171" y="3801050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F44E47C-3113-4FD3-B3CC-129A8D9AF847}"/>
                </a:ext>
              </a:extLst>
            </p:cNvPr>
            <p:cNvSpPr/>
            <p:nvPr/>
          </p:nvSpPr>
          <p:spPr>
            <a:xfrm>
              <a:off x="6559439" y="3791015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07A7BC6-BF1A-7AC9-DA1C-C1C806B03199}"/>
                </a:ext>
              </a:extLst>
            </p:cNvPr>
            <p:cNvSpPr/>
            <p:nvPr/>
          </p:nvSpPr>
          <p:spPr>
            <a:xfrm>
              <a:off x="6980813" y="3850538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7380374-EDA8-2B81-0119-7143FAE3852F}"/>
                </a:ext>
              </a:extLst>
            </p:cNvPr>
            <p:cNvSpPr/>
            <p:nvPr/>
          </p:nvSpPr>
          <p:spPr>
            <a:xfrm>
              <a:off x="6087931" y="5451364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8E021BF-58C1-CAF6-CE57-323183450E66}"/>
                </a:ext>
              </a:extLst>
            </p:cNvPr>
            <p:cNvSpPr/>
            <p:nvPr/>
          </p:nvSpPr>
          <p:spPr>
            <a:xfrm>
              <a:off x="5666687" y="5782547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DF9C9CCE-26CF-E3E4-DE40-0B63AECE0C26}"/>
                </a:ext>
              </a:extLst>
            </p:cNvPr>
            <p:cNvSpPr/>
            <p:nvPr/>
          </p:nvSpPr>
          <p:spPr>
            <a:xfrm>
              <a:off x="7260200" y="4243737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72AC12F-AA8D-1830-6CE9-F706AF898BD4}"/>
                </a:ext>
              </a:extLst>
            </p:cNvPr>
            <p:cNvSpPr/>
            <p:nvPr/>
          </p:nvSpPr>
          <p:spPr>
            <a:xfrm>
              <a:off x="6765833" y="3398962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FD6AC1A-528B-796D-1B4F-BF87B37FD28B}"/>
                </a:ext>
              </a:extLst>
            </p:cNvPr>
            <p:cNvSpPr/>
            <p:nvPr/>
          </p:nvSpPr>
          <p:spPr>
            <a:xfrm>
              <a:off x="5524818" y="3518705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0EC0F79-BEEE-B94E-0C2B-713AE83FB148}"/>
                </a:ext>
              </a:extLst>
            </p:cNvPr>
            <p:cNvSpPr/>
            <p:nvPr/>
          </p:nvSpPr>
          <p:spPr>
            <a:xfrm>
              <a:off x="4311486" y="4082930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5925941-EA21-22D6-AC32-1682157CEC44}"/>
                </a:ext>
              </a:extLst>
            </p:cNvPr>
            <p:cNvSpPr/>
            <p:nvPr/>
          </p:nvSpPr>
          <p:spPr>
            <a:xfrm>
              <a:off x="5093646" y="3858101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9818265-B5E0-1D29-7C6C-0BD43D2C5E24}"/>
                </a:ext>
              </a:extLst>
            </p:cNvPr>
            <p:cNvSpPr/>
            <p:nvPr/>
          </p:nvSpPr>
          <p:spPr>
            <a:xfrm>
              <a:off x="5023445" y="4674917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3E475972-B32E-EC2E-BA98-11ED73C22B05}"/>
                </a:ext>
              </a:extLst>
            </p:cNvPr>
            <p:cNvSpPr/>
            <p:nvPr/>
          </p:nvSpPr>
          <p:spPr>
            <a:xfrm>
              <a:off x="4720218" y="4222909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B6C1DC3B-75A0-F9C4-083A-D619417FACA7}"/>
                </a:ext>
              </a:extLst>
            </p:cNvPr>
            <p:cNvSpPr/>
            <p:nvPr/>
          </p:nvSpPr>
          <p:spPr>
            <a:xfrm rot="21379643">
              <a:off x="5983864" y="5955610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B4F48D6-CCB3-214B-4C65-88DEFACBDF0C}"/>
                </a:ext>
              </a:extLst>
            </p:cNvPr>
            <p:cNvSpPr/>
            <p:nvPr/>
          </p:nvSpPr>
          <p:spPr>
            <a:xfrm rot="21379643">
              <a:off x="4834486" y="5852873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9AD66BF1-4894-6660-B305-AAB94FEB04E5}"/>
                </a:ext>
              </a:extLst>
            </p:cNvPr>
            <p:cNvSpPr/>
            <p:nvPr/>
          </p:nvSpPr>
          <p:spPr>
            <a:xfrm rot="21379643">
              <a:off x="5351877" y="6008797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4EDF62F-9185-0983-7AAF-7C48A4D45420}"/>
                </a:ext>
              </a:extLst>
            </p:cNvPr>
            <p:cNvSpPr/>
            <p:nvPr/>
          </p:nvSpPr>
          <p:spPr>
            <a:xfrm>
              <a:off x="4774481" y="3655000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4C15008F-44D1-E3DE-D8F5-87E385738ABA}"/>
                </a:ext>
              </a:extLst>
            </p:cNvPr>
            <p:cNvSpPr/>
            <p:nvPr/>
          </p:nvSpPr>
          <p:spPr>
            <a:xfrm>
              <a:off x="6604194" y="5734528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FAAB8C9-A41E-B6ED-25F6-96829D5CC2D4}"/>
                </a:ext>
              </a:extLst>
            </p:cNvPr>
            <p:cNvSpPr/>
            <p:nvPr/>
          </p:nvSpPr>
          <p:spPr>
            <a:xfrm rot="8456398">
              <a:off x="6283073" y="3363766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EDC3027-FC24-E9E8-838B-6EF87034A1DB}"/>
                </a:ext>
              </a:extLst>
            </p:cNvPr>
            <p:cNvSpPr/>
            <p:nvPr/>
          </p:nvSpPr>
          <p:spPr>
            <a:xfrm rot="8456398">
              <a:off x="7324033" y="3531485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3AD709C-AE26-1B86-6687-218639A30952}"/>
                </a:ext>
              </a:extLst>
            </p:cNvPr>
            <p:cNvSpPr/>
            <p:nvPr/>
          </p:nvSpPr>
          <p:spPr>
            <a:xfrm rot="8456398">
              <a:off x="6622821" y="2986218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B3195C5F-E6DF-1CE2-B64C-D746E492ABAB}"/>
                </a:ext>
              </a:extLst>
            </p:cNvPr>
            <p:cNvSpPr/>
            <p:nvPr/>
          </p:nvSpPr>
          <p:spPr>
            <a:xfrm>
              <a:off x="5155374" y="3107266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35F43522-0A9F-4E5A-E525-4B9C31E6367E}"/>
                </a:ext>
              </a:extLst>
            </p:cNvPr>
            <p:cNvSpPr/>
            <p:nvPr/>
          </p:nvSpPr>
          <p:spPr>
            <a:xfrm>
              <a:off x="5949838" y="4446410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858BF76-8A1F-E2D2-E51A-C303182C5CC5}"/>
                </a:ext>
              </a:extLst>
            </p:cNvPr>
            <p:cNvSpPr/>
            <p:nvPr/>
          </p:nvSpPr>
          <p:spPr>
            <a:xfrm rot="21379643">
              <a:off x="4414867" y="5528232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390B5852-44E3-7BD7-0988-EECF1604993D}"/>
                </a:ext>
              </a:extLst>
            </p:cNvPr>
            <p:cNvSpPr/>
            <p:nvPr/>
          </p:nvSpPr>
          <p:spPr>
            <a:xfrm rot="21379643">
              <a:off x="3965724" y="5473805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10B97BB-5B5D-BE1E-7690-88778AF1B42E}"/>
                </a:ext>
              </a:extLst>
            </p:cNvPr>
            <p:cNvSpPr/>
            <p:nvPr/>
          </p:nvSpPr>
          <p:spPr>
            <a:xfrm rot="21379643">
              <a:off x="4329667" y="6076079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474A484-DBA6-01D7-4367-A3EDFE73F6C2}"/>
                </a:ext>
              </a:extLst>
            </p:cNvPr>
            <p:cNvSpPr/>
            <p:nvPr/>
          </p:nvSpPr>
          <p:spPr>
            <a:xfrm rot="8456398">
              <a:off x="7905937" y="3717273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6DB1E64-5DD1-7F44-32AF-8B4BBFB07ADE}"/>
                </a:ext>
              </a:extLst>
            </p:cNvPr>
            <p:cNvSpPr/>
            <p:nvPr/>
          </p:nvSpPr>
          <p:spPr>
            <a:xfrm rot="8456398">
              <a:off x="7661163" y="3999826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192F28B4-57C2-DF7D-6C34-A48A3A1C684B}"/>
                </a:ext>
              </a:extLst>
            </p:cNvPr>
            <p:cNvSpPr/>
            <p:nvPr/>
          </p:nvSpPr>
          <p:spPr>
            <a:xfrm rot="8456398">
              <a:off x="7412775" y="3063143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FFE4A695-C5E8-0278-E991-7954ADDC0F88}"/>
                </a:ext>
              </a:extLst>
            </p:cNvPr>
            <p:cNvGrpSpPr/>
            <p:nvPr/>
          </p:nvGrpSpPr>
          <p:grpSpPr>
            <a:xfrm>
              <a:off x="3855525" y="3723023"/>
              <a:ext cx="3790558" cy="2131249"/>
              <a:chOff x="3287486" y="3390510"/>
              <a:chExt cx="3790558" cy="2131249"/>
            </a:xfrm>
          </p:grpSpPr>
          <p:cxnSp>
            <p:nvCxnSpPr>
              <p:cNvPr id="78" name="Elbow Connector 77">
                <a:extLst>
                  <a:ext uri="{FF2B5EF4-FFF2-40B4-BE49-F238E27FC236}">
                    <a16:creationId xmlns:a16="http://schemas.microsoft.com/office/drawing/2014/main" id="{A2F9F6BE-0FB0-E86D-6946-F804B1D8C4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87486" y="4828868"/>
                <a:ext cx="925468" cy="336866"/>
              </a:xfrm>
              <a:prstGeom prst="bentConnector3">
                <a:avLst/>
              </a:prstGeom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Elbow Connector 79">
                <a:extLst>
                  <a:ext uri="{FF2B5EF4-FFF2-40B4-BE49-F238E27FC236}">
                    <a16:creationId xmlns:a16="http://schemas.microsoft.com/office/drawing/2014/main" id="{4DDA3C30-EBBC-7355-C4A7-0D67AC9B30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50951" y="5166472"/>
                <a:ext cx="833791" cy="346463"/>
              </a:xfrm>
              <a:prstGeom prst="bentConnector3">
                <a:avLst/>
              </a:prstGeom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Elbow Connector 81">
                <a:extLst>
                  <a:ext uri="{FF2B5EF4-FFF2-40B4-BE49-F238E27FC236}">
                    <a16:creationId xmlns:a16="http://schemas.microsoft.com/office/drawing/2014/main" id="{5607ADF4-878F-39DB-9E6D-48DE2B497B7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956211" y="5152270"/>
                <a:ext cx="392001" cy="346978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Elbow Connector 86">
                <a:extLst>
                  <a:ext uri="{FF2B5EF4-FFF2-40B4-BE49-F238E27FC236}">
                    <a16:creationId xmlns:a16="http://schemas.microsoft.com/office/drawing/2014/main" id="{55F25A94-22B2-609C-E43E-E46FD167FA5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312635" y="4771437"/>
                <a:ext cx="374850" cy="348721"/>
              </a:xfrm>
              <a:prstGeom prst="bentConnector3">
                <a:avLst>
                  <a:gd name="adj1" fmla="val 75872"/>
                </a:avLst>
              </a:prstGeom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Elbow Connector 93">
                <a:extLst>
                  <a:ext uri="{FF2B5EF4-FFF2-40B4-BE49-F238E27FC236}">
                    <a16:creationId xmlns:a16="http://schemas.microsoft.com/office/drawing/2014/main" id="{A40F9BED-24F8-BCB4-9804-AE72A2943BA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221857" y="4313230"/>
                <a:ext cx="557689" cy="343072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Elbow Connector 96">
                <a:extLst>
                  <a:ext uri="{FF2B5EF4-FFF2-40B4-BE49-F238E27FC236}">
                    <a16:creationId xmlns:a16="http://schemas.microsoft.com/office/drawing/2014/main" id="{6F567BAA-04C9-CED6-105D-50387703158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11822" y="3915593"/>
                <a:ext cx="523180" cy="87975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Elbow Connector 98">
                <a:extLst>
                  <a:ext uri="{FF2B5EF4-FFF2-40B4-BE49-F238E27FC236}">
                    <a16:creationId xmlns:a16="http://schemas.microsoft.com/office/drawing/2014/main" id="{8BB04A28-8B05-2406-AD3C-A016C9D43FF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376140" y="3434493"/>
                <a:ext cx="303235" cy="223757"/>
              </a:xfrm>
              <a:prstGeom prst="bentConnector3">
                <a:avLst>
                  <a:gd name="adj1" fmla="val -1400"/>
                </a:avLst>
              </a:prstGeom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Elbow Connector 103">
                <a:extLst>
                  <a:ext uri="{FF2B5EF4-FFF2-40B4-BE49-F238E27FC236}">
                    <a16:creationId xmlns:a16="http://schemas.microsoft.com/office/drawing/2014/main" id="{F07E9E36-0395-E204-1AF2-4D6B48EBE2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66372" y="3390510"/>
                <a:ext cx="249579" cy="180971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139BB746-67A8-E432-2A47-DC1FF59A5805}"/>
                  </a:ext>
                </a:extLst>
              </p:cNvPr>
              <p:cNvCxnSpPr/>
              <p:nvPr/>
            </p:nvCxnSpPr>
            <p:spPr>
              <a:xfrm>
                <a:off x="5636171" y="3391290"/>
                <a:ext cx="941572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Elbow Connector 112">
                <a:extLst>
                  <a:ext uri="{FF2B5EF4-FFF2-40B4-BE49-F238E27FC236}">
                    <a16:creationId xmlns:a16="http://schemas.microsoft.com/office/drawing/2014/main" id="{70CBD802-1F2B-000C-8EF5-21FDFEF8DAB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690493" y="3692484"/>
                <a:ext cx="510424" cy="264679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6" name="TextBox 175">
            <a:extLst>
              <a:ext uri="{FF2B5EF4-FFF2-40B4-BE49-F238E27FC236}">
                <a16:creationId xmlns:a16="http://schemas.microsoft.com/office/drawing/2014/main" id="{02A4D201-A1B3-5EDA-F132-FFDED16C6295}"/>
              </a:ext>
            </a:extLst>
          </p:cNvPr>
          <p:cNvSpPr txBox="1"/>
          <p:nvPr/>
        </p:nvSpPr>
        <p:spPr>
          <a:xfrm>
            <a:off x="5826885" y="2595526"/>
            <a:ext cx="5365627" cy="1074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20" marR="0" lvl="1" indent="-2857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720"/>
              </a:spcAft>
              <a:buClrTx/>
              <a:buSzTx/>
              <a:buFont typeface="Verdana" panose="020B0604030504040204" pitchFamily="34" charset="0"/>
              <a:buChar char="−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cs typeface="Arial"/>
              </a:rPr>
              <a:t>Change the decision boundary to allow it to wrap the data </a:t>
            </a:r>
          </a:p>
          <a:p>
            <a:endParaRPr lang="en-US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E22EB915-724F-4FD3-9D15-E5F84205DE11}"/>
              </a:ext>
            </a:extLst>
          </p:cNvPr>
          <p:cNvSpPr txBox="1"/>
          <p:nvPr/>
        </p:nvSpPr>
        <p:spPr>
          <a:xfrm>
            <a:off x="523148" y="2595526"/>
            <a:ext cx="5365627" cy="1074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20" marR="0" lvl="1" indent="-2857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720"/>
              </a:spcAft>
              <a:buClrTx/>
              <a:buSzTx/>
              <a:buFont typeface="Verdana" panose="020B0604030504040204" pitchFamily="34" charset="0"/>
              <a:buChar char="−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cs typeface="Arial"/>
              </a:rPr>
              <a:t>Transform the data to make them linearly separable</a:t>
            </a:r>
          </a:p>
          <a:p>
            <a:endParaRPr lang="en-US" dirty="0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89095DA0-0054-E4EE-1C44-34ECCF6328A5}"/>
              </a:ext>
            </a:extLst>
          </p:cNvPr>
          <p:cNvSpPr/>
          <p:nvPr/>
        </p:nvSpPr>
        <p:spPr>
          <a:xfrm rot="2005559">
            <a:off x="2124413" y="4197349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1E64DC58-A5D4-227F-BCF3-5D05F8DC6A12}"/>
              </a:ext>
            </a:extLst>
          </p:cNvPr>
          <p:cNvSpPr/>
          <p:nvPr/>
        </p:nvSpPr>
        <p:spPr>
          <a:xfrm rot="2005559">
            <a:off x="2528499" y="5094658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AF80225D-63B7-65B7-2289-5D669F859076}"/>
              </a:ext>
            </a:extLst>
          </p:cNvPr>
          <p:cNvSpPr/>
          <p:nvPr/>
        </p:nvSpPr>
        <p:spPr>
          <a:xfrm rot="2005559">
            <a:off x="2345047" y="4717514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52592B34-5262-DB23-C6F7-EE1CFA87792C}"/>
              </a:ext>
            </a:extLst>
          </p:cNvPr>
          <p:cNvSpPr/>
          <p:nvPr/>
        </p:nvSpPr>
        <p:spPr>
          <a:xfrm rot="2005559">
            <a:off x="2099610" y="4576487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F8278C42-B497-A0CF-94CA-4AC0C9739AB5}"/>
              </a:ext>
            </a:extLst>
          </p:cNvPr>
          <p:cNvSpPr/>
          <p:nvPr/>
        </p:nvSpPr>
        <p:spPr>
          <a:xfrm rot="2005559">
            <a:off x="2928862" y="4300221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A1E0572D-EB8A-767F-066E-46C4A284A99E}"/>
              </a:ext>
            </a:extLst>
          </p:cNvPr>
          <p:cNvSpPr/>
          <p:nvPr/>
        </p:nvSpPr>
        <p:spPr>
          <a:xfrm rot="2005559">
            <a:off x="3546418" y="4573647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D6D9AC0E-6244-2D19-1B4E-AF1CDFF21F33}"/>
              </a:ext>
            </a:extLst>
          </p:cNvPr>
          <p:cNvSpPr/>
          <p:nvPr/>
        </p:nvSpPr>
        <p:spPr>
          <a:xfrm rot="2005559">
            <a:off x="2729706" y="4655633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E1C14F7F-6E04-C2A8-0A2C-2C6698945918}"/>
              </a:ext>
            </a:extLst>
          </p:cNvPr>
          <p:cNvSpPr/>
          <p:nvPr/>
        </p:nvSpPr>
        <p:spPr>
          <a:xfrm rot="2005559">
            <a:off x="2962092" y="5073297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23E5D724-16A0-443C-B14D-1D43AF307E5B}"/>
              </a:ext>
            </a:extLst>
          </p:cNvPr>
          <p:cNvSpPr/>
          <p:nvPr/>
        </p:nvSpPr>
        <p:spPr>
          <a:xfrm rot="2005559">
            <a:off x="2952528" y="4631210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A692AFD5-B292-E1F2-D046-CAC8D241AE85}"/>
              </a:ext>
            </a:extLst>
          </p:cNvPr>
          <p:cNvSpPr/>
          <p:nvPr/>
        </p:nvSpPr>
        <p:spPr>
          <a:xfrm rot="10461957">
            <a:off x="4160314" y="5477052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FCF6EE24-DA47-9FFD-0C90-FCA337695E5D}"/>
              </a:ext>
            </a:extLst>
          </p:cNvPr>
          <p:cNvSpPr/>
          <p:nvPr/>
        </p:nvSpPr>
        <p:spPr>
          <a:xfrm rot="10461957">
            <a:off x="4665586" y="5727293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63315971-098C-2F1A-16B1-C4B08D825713}"/>
              </a:ext>
            </a:extLst>
          </p:cNvPr>
          <p:cNvSpPr/>
          <p:nvPr/>
        </p:nvSpPr>
        <p:spPr>
          <a:xfrm rot="10461957">
            <a:off x="3851258" y="4995334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F0C02365-A3D3-3FE4-2DDD-E418B86AB109}"/>
              </a:ext>
            </a:extLst>
          </p:cNvPr>
          <p:cNvSpPr/>
          <p:nvPr/>
        </p:nvSpPr>
        <p:spPr>
          <a:xfrm rot="10461957">
            <a:off x="3389023" y="5063293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716120C5-4B75-775F-DCEC-134366F948B9}"/>
              </a:ext>
            </a:extLst>
          </p:cNvPr>
          <p:cNvSpPr/>
          <p:nvPr/>
        </p:nvSpPr>
        <p:spPr>
          <a:xfrm rot="10461957">
            <a:off x="3980097" y="5902505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A7A9AC5C-1BEE-8BDE-75B6-820B9F8C49FB}"/>
              </a:ext>
            </a:extLst>
          </p:cNvPr>
          <p:cNvSpPr/>
          <p:nvPr/>
        </p:nvSpPr>
        <p:spPr>
          <a:xfrm rot="10461957">
            <a:off x="3871052" y="3729673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B651D98C-904D-AC17-AB23-210B8A4F7FF6}"/>
              </a:ext>
            </a:extLst>
          </p:cNvPr>
          <p:cNvSpPr/>
          <p:nvPr/>
        </p:nvSpPr>
        <p:spPr>
          <a:xfrm rot="10461957">
            <a:off x="3586435" y="5871851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D634F497-0E77-D622-7542-F9656B94A704}"/>
              </a:ext>
            </a:extLst>
          </p:cNvPr>
          <p:cNvSpPr/>
          <p:nvPr/>
        </p:nvSpPr>
        <p:spPr>
          <a:xfrm rot="10461957">
            <a:off x="3676757" y="5442075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43062CA5-491D-9C75-0FB5-D8EB59807663}"/>
              </a:ext>
            </a:extLst>
          </p:cNvPr>
          <p:cNvSpPr/>
          <p:nvPr/>
        </p:nvSpPr>
        <p:spPr>
          <a:xfrm rot="10461957">
            <a:off x="3144170" y="5679630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9483A4F5-D5C5-E0C9-A23E-E42E5E1ECE22}"/>
              </a:ext>
            </a:extLst>
          </p:cNvPr>
          <p:cNvSpPr/>
          <p:nvPr/>
        </p:nvSpPr>
        <p:spPr>
          <a:xfrm rot="2005559">
            <a:off x="3330546" y="4112010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D8CA1F16-A99F-1E41-4FE1-18EAD00EE743}"/>
              </a:ext>
            </a:extLst>
          </p:cNvPr>
          <p:cNvSpPr/>
          <p:nvPr/>
        </p:nvSpPr>
        <p:spPr>
          <a:xfrm rot="2005559">
            <a:off x="3618669" y="4282833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732BE7FE-B50C-5E14-7F68-D362FFD20672}"/>
              </a:ext>
            </a:extLst>
          </p:cNvPr>
          <p:cNvSpPr/>
          <p:nvPr/>
        </p:nvSpPr>
        <p:spPr>
          <a:xfrm rot="2005559">
            <a:off x="3949069" y="4491461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04A855F3-7E14-D3B5-6123-ECC1CFCE8E4B}"/>
              </a:ext>
            </a:extLst>
          </p:cNvPr>
          <p:cNvSpPr/>
          <p:nvPr/>
        </p:nvSpPr>
        <p:spPr>
          <a:xfrm rot="2005559">
            <a:off x="4199602" y="4712852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9EC2D1C5-A406-0C0A-3A86-9ED79F05840F}"/>
              </a:ext>
            </a:extLst>
          </p:cNvPr>
          <p:cNvSpPr/>
          <p:nvPr/>
        </p:nvSpPr>
        <p:spPr>
          <a:xfrm rot="2005559">
            <a:off x="2921338" y="5442076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D17A8579-9D3F-11CC-4191-042BE0C28B43}"/>
              </a:ext>
            </a:extLst>
          </p:cNvPr>
          <p:cNvSpPr/>
          <p:nvPr/>
        </p:nvSpPr>
        <p:spPr>
          <a:xfrm rot="2005559">
            <a:off x="2416958" y="5505207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E6F7C9BD-93A4-DB95-0954-DC6CBDD602DC}"/>
              </a:ext>
            </a:extLst>
          </p:cNvPr>
          <p:cNvSpPr/>
          <p:nvPr/>
        </p:nvSpPr>
        <p:spPr>
          <a:xfrm rot="2005559">
            <a:off x="4212627" y="5157573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874E4557-6DAD-9B7E-C9F4-02A14E0259D5}"/>
              </a:ext>
            </a:extLst>
          </p:cNvPr>
          <p:cNvSpPr/>
          <p:nvPr/>
        </p:nvSpPr>
        <p:spPr>
          <a:xfrm rot="2005559">
            <a:off x="4254073" y="4323717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443CFFB0-2242-F133-75F3-4997CEFECE7B}"/>
              </a:ext>
            </a:extLst>
          </p:cNvPr>
          <p:cNvSpPr/>
          <p:nvPr/>
        </p:nvSpPr>
        <p:spPr>
          <a:xfrm rot="2005559">
            <a:off x="3388522" y="3865147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E132B7FD-1450-CF26-1026-C040E5DF4521}"/>
              </a:ext>
            </a:extLst>
          </p:cNvPr>
          <p:cNvSpPr/>
          <p:nvPr/>
        </p:nvSpPr>
        <p:spPr>
          <a:xfrm rot="2005559">
            <a:off x="2348760" y="3710002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3434AFD9-D19D-6F4A-2326-B9A29FD84198}"/>
              </a:ext>
            </a:extLst>
          </p:cNvPr>
          <p:cNvSpPr/>
          <p:nvPr/>
        </p:nvSpPr>
        <p:spPr>
          <a:xfrm rot="2005559">
            <a:off x="2958920" y="3901085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E1AE7A8C-800C-5B5A-3FD4-2D85428DBA29}"/>
              </a:ext>
            </a:extLst>
          </p:cNvPr>
          <p:cNvSpPr/>
          <p:nvPr/>
        </p:nvSpPr>
        <p:spPr>
          <a:xfrm rot="2005559">
            <a:off x="2559389" y="4406287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1CFE0DED-D0C8-BE8C-26CA-907CB8B19CF0}"/>
              </a:ext>
            </a:extLst>
          </p:cNvPr>
          <p:cNvSpPr/>
          <p:nvPr/>
        </p:nvSpPr>
        <p:spPr>
          <a:xfrm rot="2005559">
            <a:off x="2556183" y="3978676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5FDE59C1-55A1-0D27-3E4F-558767907648}"/>
              </a:ext>
            </a:extLst>
          </p:cNvPr>
          <p:cNvSpPr/>
          <p:nvPr/>
        </p:nvSpPr>
        <p:spPr>
          <a:xfrm rot="1785202">
            <a:off x="2634875" y="5897354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59480BF3-1E72-235A-0C90-763A580CFA58}"/>
              </a:ext>
            </a:extLst>
          </p:cNvPr>
          <p:cNvSpPr/>
          <p:nvPr/>
        </p:nvSpPr>
        <p:spPr>
          <a:xfrm rot="1785202">
            <a:off x="1925695" y="5162880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BBBB4160-C290-3A22-1C3B-2D1F149C94CC}"/>
              </a:ext>
            </a:extLst>
          </p:cNvPr>
          <p:cNvSpPr/>
          <p:nvPr/>
        </p:nvSpPr>
        <p:spPr>
          <a:xfrm rot="1785202">
            <a:off x="2112623" y="5517316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64594294-235F-E74E-D3EC-A939D18A341B}"/>
              </a:ext>
            </a:extLst>
          </p:cNvPr>
          <p:cNvSpPr/>
          <p:nvPr/>
        </p:nvSpPr>
        <p:spPr>
          <a:xfrm rot="2005559">
            <a:off x="2837542" y="3629784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B35EBCFF-6C66-98F5-B518-E38778AEA6CE}"/>
              </a:ext>
            </a:extLst>
          </p:cNvPr>
          <p:cNvSpPr/>
          <p:nvPr/>
        </p:nvSpPr>
        <p:spPr>
          <a:xfrm rot="2005559">
            <a:off x="3137303" y="6020856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CCD52D68-329E-72FE-5A6E-EAF777997049}"/>
              </a:ext>
            </a:extLst>
          </p:cNvPr>
          <p:cNvSpPr/>
          <p:nvPr/>
        </p:nvSpPr>
        <p:spPr>
          <a:xfrm rot="10461957">
            <a:off x="3952760" y="4091710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FDF91237-404B-BD92-769F-8C5B9FAD36F8}"/>
              </a:ext>
            </a:extLst>
          </p:cNvPr>
          <p:cNvSpPr/>
          <p:nvPr/>
        </p:nvSpPr>
        <p:spPr>
          <a:xfrm rot="10461957">
            <a:off x="4562730" y="4652188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687BCFFA-F00A-66CE-80DB-55764952F5C1}"/>
              </a:ext>
            </a:extLst>
          </p:cNvPr>
          <p:cNvSpPr/>
          <p:nvPr/>
        </p:nvSpPr>
        <p:spPr>
          <a:xfrm rot="10461957">
            <a:off x="4338927" y="3991189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19C92111-F9BC-196A-8AE5-3BA27A597433}"/>
              </a:ext>
            </a:extLst>
          </p:cNvPr>
          <p:cNvSpPr/>
          <p:nvPr/>
        </p:nvSpPr>
        <p:spPr>
          <a:xfrm rot="2005559">
            <a:off x="3324340" y="3435480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41EB5FDB-FA1B-1284-32AA-8DC7A863606A}"/>
              </a:ext>
            </a:extLst>
          </p:cNvPr>
          <p:cNvSpPr/>
          <p:nvPr/>
        </p:nvSpPr>
        <p:spPr>
          <a:xfrm rot="2005559">
            <a:off x="3265715" y="4657379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BB779D2F-6BC5-114A-5035-B5CB4116C35D}"/>
              </a:ext>
            </a:extLst>
          </p:cNvPr>
          <p:cNvSpPr/>
          <p:nvPr/>
        </p:nvSpPr>
        <p:spPr>
          <a:xfrm rot="1785202">
            <a:off x="1791050" y="4702422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4DBDD482-42A7-0642-D0CB-A1508AE59012}"/>
              </a:ext>
            </a:extLst>
          </p:cNvPr>
          <p:cNvSpPr/>
          <p:nvPr/>
        </p:nvSpPr>
        <p:spPr>
          <a:xfrm rot="1785202">
            <a:off x="1520103" y="4472355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6FD07FAC-5315-BA14-A298-F764A08154A7}"/>
              </a:ext>
            </a:extLst>
          </p:cNvPr>
          <p:cNvSpPr/>
          <p:nvPr/>
        </p:nvSpPr>
        <p:spPr>
          <a:xfrm rot="1785202">
            <a:off x="1498088" y="5090760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87E87D6F-978F-0B8E-9744-48C376B4E6B8}"/>
              </a:ext>
            </a:extLst>
          </p:cNvPr>
          <p:cNvSpPr/>
          <p:nvPr/>
        </p:nvSpPr>
        <p:spPr>
          <a:xfrm rot="10461957">
            <a:off x="4863876" y="5091833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6A15486A-5860-F197-3EC7-D3A935757E14}"/>
              </a:ext>
            </a:extLst>
          </p:cNvPr>
          <p:cNvSpPr/>
          <p:nvPr/>
        </p:nvSpPr>
        <p:spPr>
          <a:xfrm rot="10461957">
            <a:off x="4581096" y="5171169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9D1CEE79-8AF5-12D1-7B45-770C70E0E2F4}"/>
              </a:ext>
            </a:extLst>
          </p:cNvPr>
          <p:cNvSpPr/>
          <p:nvPr/>
        </p:nvSpPr>
        <p:spPr>
          <a:xfrm rot="10461957">
            <a:off x="4823605" y="4383504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3FC055DB-43DB-889A-61F0-E92CECEFA05C}"/>
              </a:ext>
            </a:extLst>
          </p:cNvPr>
          <p:cNvCxnSpPr>
            <a:cxnSpLocks/>
          </p:cNvCxnSpPr>
          <p:nvPr/>
        </p:nvCxnSpPr>
        <p:spPr>
          <a:xfrm>
            <a:off x="1125375" y="4967698"/>
            <a:ext cx="4233606" cy="0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9056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F14DE-3AA6-32F0-D291-0AA3F4E35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BCC2E-010B-6710-B145-4166E59BE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414"/>
            <a:ext cx="10972800" cy="497998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By the end of today, you will be able to</a:t>
            </a:r>
            <a:r>
              <a:rPr lang="en-GB" b="1" dirty="0"/>
              <a:t>:</a:t>
            </a:r>
            <a:endParaRPr lang="en-GB" dirty="0"/>
          </a:p>
          <a:p>
            <a:r>
              <a:rPr lang="en-GB" dirty="0"/>
              <a:t>Explain why linear models have limitations and what strategies address them.</a:t>
            </a:r>
          </a:p>
          <a:p>
            <a:r>
              <a:rPr lang="en-GB" dirty="0"/>
              <a:t>Understand how kernel functions allow linear models to handle non-linear data.</a:t>
            </a:r>
          </a:p>
          <a:p>
            <a:r>
              <a:rPr lang="en-GB" dirty="0"/>
              <a:t>Describe the training behind decision trees. </a:t>
            </a:r>
          </a:p>
          <a:p>
            <a:r>
              <a:rPr lang="en-GB" dirty="0"/>
              <a:t>Describe the difference between averaging and boosting ensemble methods.</a:t>
            </a:r>
          </a:p>
          <a:p>
            <a:r>
              <a:rPr lang="en-GB" dirty="0"/>
              <a:t>Build and evaluate a random forest and an SVM model in code.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3C49A-B869-E49F-9E7B-6A0766031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2EE9-B8A0-0641-9265-052CFE9B95A7}" type="slidenum">
              <a:rPr lang="en-GB" altLang="en-US" smtClean="0"/>
              <a:pPr/>
              <a:t>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448771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C5635-A018-AD46-75B3-7D0808F41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F8FCD-4F7B-C11B-B301-5EF74A9BA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effectLst/>
              </a:rPr>
              <a:t>So far, we have assumed that each item we wish to classify, cluster, or process can be represented as a fixed-size feature vector.</a:t>
            </a:r>
          </a:p>
          <a:p>
            <a:r>
              <a:rPr lang="en-GB" dirty="0">
                <a:effectLst/>
              </a:rPr>
              <a:t>However, for certain types of items/concepts, it is not clear how to best represent them as fixed-sized feature vectors.</a:t>
            </a:r>
          </a:p>
          <a:p>
            <a:r>
              <a:rPr lang="en-GB" dirty="0">
                <a:effectLst/>
              </a:rPr>
              <a:t>For example, how do we represent a text document or protein sequence, which can be of variable length? </a:t>
            </a:r>
            <a:r>
              <a:rPr lang="en-GB" dirty="0"/>
              <a:t>Or a molecular structure, which has a </a:t>
            </a:r>
            <a:r>
              <a:rPr lang="en-GB" dirty="0">
                <a:effectLst/>
              </a:rPr>
              <a:t>complex 3d geometry? or an evolutionary tree, which has variable size and shape?</a:t>
            </a:r>
          </a:p>
          <a:p>
            <a:endParaRPr lang="en-GB" dirty="0">
              <a:effectLst/>
              <a:latin typeface="Helvetica" pitchFamily="2" charset="0"/>
            </a:endParaRPr>
          </a:p>
          <a:p>
            <a:endParaRPr lang="en-GB" dirty="0">
              <a:effectLst/>
              <a:latin typeface="Helvetica" pitchFamily="2" charset="0"/>
            </a:endParaRP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2E810-5811-8A7C-78FD-D1421052D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7669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0DACF-A0DC-2DAC-6E58-3BF2F156A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separability and kernel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02B2B-1A8A-0B91-6C15-4F3EA451F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if no straight line can separate data?</a:t>
            </a:r>
          </a:p>
          <a:p>
            <a:r>
              <a:rPr lang="en-GB" dirty="0"/>
              <a:t>Apply a function to “change the space” </a:t>
            </a:r>
          </a:p>
          <a:p>
            <a:pPr lvl="1"/>
            <a:r>
              <a:rPr lang="en-GB" dirty="0"/>
              <a:t>E.g. from 2D to 3D </a:t>
            </a:r>
            <a:r>
              <a:rPr lang="en-GB" dirty="0">
                <a:sym typeface="Wingdings" pitchFamily="2" charset="2"/>
              </a:rPr>
              <a:t> maybe the data is now linearly separable</a:t>
            </a:r>
            <a:endParaRPr lang="en-GB" dirty="0"/>
          </a:p>
          <a:p>
            <a:r>
              <a:rPr lang="en-GB" dirty="0"/>
              <a:t>We can apply a function to transform the original data into a </a:t>
            </a:r>
            <a:r>
              <a:rPr lang="en-GB" b="1" dirty="0"/>
              <a:t>higher-dimensional </a:t>
            </a:r>
            <a:r>
              <a:rPr lang="en-GB" dirty="0"/>
              <a:t>space in which the data items can then be compared/processed and a division margin found! 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79231-9CD1-A0BC-D5F3-8B8A1D968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560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2C3D7-DAC3-9A4F-A5A7-9205D4EEF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460941-09E5-23D4-236B-F168659C6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98F552-A29D-2D4E-8192-F20670493719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0B282224-3637-81FB-20E4-DE57E7800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074" y="1096017"/>
            <a:ext cx="5490311" cy="52451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6F6162-5506-07F2-3A0E-D5E312264261}"/>
              </a:ext>
            </a:extLst>
          </p:cNvPr>
          <p:cNvSpPr txBox="1"/>
          <p:nvPr/>
        </p:nvSpPr>
        <p:spPr>
          <a:xfrm>
            <a:off x="617868" y="6428502"/>
            <a:ext cx="67180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Source: https://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xavierbourretsicotte.github.io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Kernel_feature_map.html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9646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BE53D-278A-2052-8BD7-C4F0053E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– applying polynomial kernel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53ADF9-63BD-C075-3761-77E24A62A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98F552-A29D-2D4E-8192-F20670493719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3C7371EB-63CC-9AB6-D5A1-E41CBE018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560" y="1116014"/>
            <a:ext cx="9326880" cy="48387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17D4C3-5C50-98CA-9C9F-709C5F6FA803}"/>
              </a:ext>
            </a:extLst>
          </p:cNvPr>
          <p:cNvSpPr txBox="1"/>
          <p:nvPr/>
        </p:nvSpPr>
        <p:spPr>
          <a:xfrm>
            <a:off x="1791389" y="6256149"/>
            <a:ext cx="67180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: https://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xavierbourretsicotte.github.io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Kernel_feature_map.html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7728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5799B-50CA-ADDC-CDE5-27360542A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polynomial kernel?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AEBCE-3481-58BA-791F-A333F30BA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our data is a 2D set of (x</a:t>
            </a:r>
            <a:r>
              <a:rPr lang="en-GB" baseline="-25000" dirty="0"/>
              <a:t>1</a:t>
            </a:r>
            <a:r>
              <a:rPr lang="en-GB" dirty="0"/>
              <a:t>, x</a:t>
            </a:r>
            <a:r>
              <a:rPr lang="en-GB" baseline="-25000" dirty="0"/>
              <a:t>2</a:t>
            </a:r>
            <a:r>
              <a:rPr lang="en-GB" dirty="0"/>
              <a:t>)</a:t>
            </a:r>
          </a:p>
          <a:p>
            <a:r>
              <a:rPr lang="en-GB" dirty="0"/>
              <a:t>Transform it to 3D (z</a:t>
            </a:r>
            <a:r>
              <a:rPr lang="en-GB" baseline="-25000" dirty="0"/>
              <a:t>1</a:t>
            </a:r>
            <a:r>
              <a:rPr lang="en-GB" dirty="0"/>
              <a:t>,z</a:t>
            </a:r>
            <a:r>
              <a:rPr lang="en-GB" baseline="-25000" dirty="0"/>
              <a:t>2</a:t>
            </a:r>
            <a:r>
              <a:rPr lang="en-GB" dirty="0"/>
              <a:t>,z</a:t>
            </a:r>
            <a:r>
              <a:rPr lang="en-GB" baseline="-25000" dirty="0"/>
              <a:t>3</a:t>
            </a:r>
            <a:r>
              <a:rPr lang="en-GB" dirty="0"/>
              <a:t>) in which: </a:t>
            </a:r>
          </a:p>
          <a:p>
            <a:pPr marL="457182" lvl="1" indent="0">
              <a:buNone/>
            </a:pPr>
            <a:r>
              <a:rPr lang="en-GB" sz="2160" dirty="0"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lang="en-GB" sz="216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GB" sz="2160" dirty="0">
                <a:latin typeface="Courier New" panose="02070309020205020404" pitchFamily="49" charset="0"/>
                <a:cs typeface="Courier New" panose="02070309020205020404" pitchFamily="49" charset="0"/>
              </a:rPr>
              <a:t> = x</a:t>
            </a:r>
            <a:r>
              <a:rPr lang="en-GB" sz="216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GB" sz="216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182" lvl="1" indent="0">
              <a:buNone/>
            </a:pPr>
            <a:r>
              <a:rPr lang="en-GB" sz="2160" dirty="0"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lang="en-GB" sz="216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GB" sz="2160" dirty="0">
                <a:latin typeface="Courier New" panose="02070309020205020404" pitchFamily="49" charset="0"/>
                <a:cs typeface="Courier New" panose="02070309020205020404" pitchFamily="49" charset="0"/>
              </a:rPr>
              <a:t> = x</a:t>
            </a:r>
            <a:r>
              <a:rPr lang="en-GB" sz="216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GB" sz="216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182" lvl="1" indent="0">
              <a:buNone/>
            </a:pPr>
            <a:r>
              <a:rPr lang="en-GB" sz="2160" dirty="0"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lang="en-GB" sz="216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GB" sz="2160" dirty="0">
                <a:latin typeface="Courier New" panose="02070309020205020404" pitchFamily="49" charset="0"/>
                <a:cs typeface="Courier New" panose="02070309020205020404" pitchFamily="49" charset="0"/>
              </a:rPr>
              <a:t> = x</a:t>
            </a:r>
            <a:r>
              <a:rPr lang="en-GB" sz="216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GB" sz="2160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GB" sz="2160" dirty="0">
                <a:latin typeface="Courier New" panose="02070309020205020404" pitchFamily="49" charset="0"/>
                <a:cs typeface="Courier New" panose="02070309020205020404" pitchFamily="49" charset="0"/>
              </a:rPr>
              <a:t> + x</a:t>
            </a:r>
            <a:r>
              <a:rPr lang="en-GB" sz="216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GB" sz="2160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marL="0" indent="0">
              <a:buNone/>
            </a:pPr>
            <a:r>
              <a:rPr lang="en-GB" dirty="0"/>
              <a:t>     </a:t>
            </a:r>
            <a:r>
              <a:rPr lang="en-GB" sz="2160" dirty="0">
                <a:latin typeface="Courier New" panose="02070309020205020404" pitchFamily="49" charset="0"/>
                <a:cs typeface="Courier New" panose="02070309020205020404" pitchFamily="49" charset="0"/>
              </a:rPr>
              <a:t>(z1,z2,z3)= (x</a:t>
            </a:r>
            <a:r>
              <a:rPr lang="en-GB" sz="216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GB" sz="2160" dirty="0">
                <a:latin typeface="Courier New" panose="02070309020205020404" pitchFamily="49" charset="0"/>
                <a:cs typeface="Courier New" panose="02070309020205020404" pitchFamily="49" charset="0"/>
              </a:rPr>
              <a:t>, x</a:t>
            </a:r>
            <a:r>
              <a:rPr lang="en-GB" sz="216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GB" sz="2160" dirty="0">
                <a:latin typeface="Courier New" panose="02070309020205020404" pitchFamily="49" charset="0"/>
                <a:cs typeface="Courier New" panose="02070309020205020404" pitchFamily="49" charset="0"/>
              </a:rPr>
              <a:t>, x</a:t>
            </a:r>
            <a:r>
              <a:rPr lang="en-GB" sz="216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GB" sz="2160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GB" sz="2160" dirty="0">
                <a:latin typeface="Courier New" panose="02070309020205020404" pitchFamily="49" charset="0"/>
                <a:cs typeface="Courier New" panose="02070309020205020404" pitchFamily="49" charset="0"/>
              </a:rPr>
              <a:t> + x</a:t>
            </a:r>
            <a:r>
              <a:rPr lang="en-GB" sz="216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GB" sz="2160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GB" sz="216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GB" sz="216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/>
              <a:t>This is, in fact, the sum of </a:t>
            </a:r>
            <a:r>
              <a:rPr lang="en-GB" b="1" dirty="0"/>
              <a:t>polynomials</a:t>
            </a:r>
          </a:p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F12EB3-C846-B8A6-CC56-4EC627FC9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98F552-A29D-2D4E-8192-F20670493719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1828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E1323-F9D3-8BF9-C338-BB87E01DE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three main kernels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0334D-50D8-CB20-5FCE-B497CBC3B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21374"/>
            <a:ext cx="10972800" cy="4968875"/>
          </a:xfrm>
        </p:spPr>
        <p:txBody>
          <a:bodyPr/>
          <a:lstStyle/>
          <a:p>
            <a:r>
              <a:rPr lang="en-US"/>
              <a:t>Linear </a:t>
            </a:r>
          </a:p>
          <a:p>
            <a:pPr lvl="1"/>
            <a:r>
              <a:rPr lang="en-US"/>
              <a:t>Linear relationships</a:t>
            </a:r>
            <a:endParaRPr lang="en-US" dirty="0"/>
          </a:p>
          <a:p>
            <a:pPr lvl="1"/>
            <a:r>
              <a:rPr lang="en-US" dirty="0"/>
              <a:t>Straight </a:t>
            </a:r>
            <a:r>
              <a:rPr lang="en-US"/>
              <a:t>line decision </a:t>
            </a:r>
            <a:r>
              <a:rPr lang="en-US" dirty="0"/>
              <a:t>boundary</a:t>
            </a:r>
          </a:p>
          <a:p>
            <a:pPr lvl="1"/>
            <a:r>
              <a:rPr lang="en-US"/>
              <a:t>Use when </a:t>
            </a:r>
            <a:r>
              <a:rPr lang="en-US" dirty="0"/>
              <a:t>data is approximately linear</a:t>
            </a:r>
          </a:p>
          <a:p>
            <a:r>
              <a:rPr lang="en-US" dirty="0"/>
              <a:t>Polynomial</a:t>
            </a:r>
            <a:endParaRPr lang="en-US"/>
          </a:p>
          <a:p>
            <a:pPr lvl="1"/>
            <a:r>
              <a:rPr lang="en-GB" dirty="0"/>
              <a:t>Captures </a:t>
            </a:r>
            <a:r>
              <a:rPr lang="en-GB"/>
              <a:t>feature </a:t>
            </a:r>
            <a:r>
              <a:rPr lang="en-GB" dirty="0"/>
              <a:t>interactions</a:t>
            </a:r>
          </a:p>
          <a:p>
            <a:pPr lvl="1"/>
            <a:r>
              <a:rPr lang="en-GB" dirty="0"/>
              <a:t>Produces curved boundaries</a:t>
            </a:r>
          </a:p>
          <a:p>
            <a:pPr lvl="1"/>
            <a:r>
              <a:rPr lang="en-GB" dirty="0"/>
              <a:t>Use for moderate non-linearity</a:t>
            </a:r>
            <a:endParaRPr lang="en-US" dirty="0"/>
          </a:p>
          <a:p>
            <a:r>
              <a:rPr lang="en-US" dirty="0"/>
              <a:t>RBF (</a:t>
            </a:r>
            <a:r>
              <a:rPr lang="en-US"/>
              <a:t>radial basis function)</a:t>
            </a:r>
            <a:endParaRPr lang="en-US" dirty="0"/>
          </a:p>
          <a:p>
            <a:pPr lvl="1"/>
            <a:r>
              <a:rPr lang="en-GB"/>
              <a:t>Very flexible decision boundary</a:t>
            </a:r>
          </a:p>
          <a:p>
            <a:pPr lvl="1"/>
            <a:r>
              <a:rPr lang="en-GB" dirty="0"/>
              <a:t>Most commonly used kernel</a:t>
            </a:r>
          </a:p>
          <a:p>
            <a:pPr lvl="1"/>
            <a:r>
              <a:rPr lang="en-GB"/>
              <a:t>Use when structure is unknown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E2B78-1585-2977-F0E7-2B6F71BAE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2EE9-B8A0-0641-9265-052CFE9B95A7}" type="slidenum">
              <a:rPr lang="en-GB" altLang="en-US" smtClean="0"/>
              <a:pPr/>
              <a:t>11</a:t>
            </a:fld>
            <a:endParaRPr lang="en-GB" altLang="en-US"/>
          </a:p>
        </p:txBody>
      </p:sp>
      <p:pic>
        <p:nvPicPr>
          <p:cNvPr id="1026" name="Picture 2" descr="Plot classification boundaries with different SVM Kernels — scikit-learn  1.8.0 documentation">
            <a:extLst>
              <a:ext uri="{FF2B5EF4-FFF2-40B4-BE49-F238E27FC236}">
                <a16:creationId xmlns:a16="http://schemas.microsoft.com/office/drawing/2014/main" id="{C2D70366-7863-37A4-D47F-2B8E67653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879" y="544513"/>
            <a:ext cx="6227521" cy="6227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5225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FFB92-1556-E6F8-66DC-75497CBF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polynomial kernel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7DC5F4-5992-47A5-D3F7-3A3FC17D6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98F552-A29D-2D4E-8192-F20670493719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E01CD895-2EB1-010B-4AB3-22D507143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865" y="1342136"/>
            <a:ext cx="9326880" cy="1614030"/>
          </a:xfrm>
          <a:prstGeom prst="rect">
            <a:avLst/>
          </a:prstGeom>
        </p:spPr>
      </p:pic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F21D756C-E186-9CF5-1A16-1F6FFF874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387" y="3241944"/>
            <a:ext cx="6585019" cy="33122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0DAB15-04F9-4E8A-A349-5C9CDFEC22A4}"/>
              </a:ext>
            </a:extLst>
          </p:cNvPr>
          <p:cNvSpPr txBox="1"/>
          <p:nvPr/>
        </p:nvSpPr>
        <p:spPr>
          <a:xfrm>
            <a:off x="1253865" y="6482158"/>
            <a:ext cx="67180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Source: https://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xavierbourretsicotte.github.io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Kernel_feature_map.html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8468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F2DD0-8F9A-C927-0175-4063B1FBF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Gaussian Radial Basis Function (RBF)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30091-22A3-E3D2-DA8E-B11D4766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F5A90BE-5B28-2146-23B4-0DB837CD0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291" y="1268761"/>
            <a:ext cx="9243149" cy="1969454"/>
          </a:xfrm>
          <a:prstGeom prst="rect">
            <a:avLst/>
          </a:prstGeom>
        </p:spPr>
      </p:pic>
      <p:pic>
        <p:nvPicPr>
          <p:cNvPr id="8" name="Picture 7" descr="Chart, scatter chart&#10;&#10;Description automatically generated">
            <a:extLst>
              <a:ext uri="{FF2B5EF4-FFF2-40B4-BE49-F238E27FC236}">
                <a16:creationId xmlns:a16="http://schemas.microsoft.com/office/drawing/2014/main" id="{71DA3824-304E-8D5B-09EF-4E4D6A9D7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435" y="3451946"/>
            <a:ext cx="6338441" cy="31352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59A3CA-A0DB-0B3F-EB14-DB6D86D2EF42}"/>
              </a:ext>
            </a:extLst>
          </p:cNvPr>
          <p:cNvSpPr txBox="1"/>
          <p:nvPr/>
        </p:nvSpPr>
        <p:spPr>
          <a:xfrm>
            <a:off x="1253865" y="6597352"/>
            <a:ext cx="67180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Source: https://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xavierbourretsicotte.github.io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Kernel_feature_map.html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6222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00362-81D7-CE21-6C8A-3D01BC983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RBF Kernel in more generalised form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D92669-3498-CFFB-95FC-4A24AE1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98F552-A29D-2D4E-8192-F20670493719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E07EDC3F-B91D-38DD-9F2B-5D6547222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002" y="1674745"/>
            <a:ext cx="9326880" cy="27855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25A371-8233-5E4A-E47F-5A4D2098FD63}"/>
              </a:ext>
            </a:extLst>
          </p:cNvPr>
          <p:cNvSpPr txBox="1"/>
          <p:nvPr/>
        </p:nvSpPr>
        <p:spPr>
          <a:xfrm>
            <a:off x="609600" y="6362702"/>
            <a:ext cx="42835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Source: Kevin Murphy, Machine Learning: A probabilistic Approach, MIT Press.</a:t>
            </a:r>
          </a:p>
        </p:txBody>
      </p:sp>
    </p:spTree>
    <p:extLst>
      <p:ext uri="{BB962C8B-B14F-4D97-AF65-F5344CB8AC3E}">
        <p14:creationId xmlns:p14="http://schemas.microsoft.com/office/powerpoint/2010/main" val="2928087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9E809-E7F7-2862-3FAC-BDDE68F14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Another polynomial function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9CEADB-9A32-7600-514F-DFEBA394A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98F552-A29D-2D4E-8192-F20670493719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pic>
        <p:nvPicPr>
          <p:cNvPr id="5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BEFF6853-8CB6-98C2-CC61-685C3F757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560" y="1268761"/>
            <a:ext cx="9326880" cy="1987499"/>
          </a:xfrm>
          <a:prstGeom prst="rect">
            <a:avLst/>
          </a:prstGeom>
        </p:spPr>
      </p:pic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AC56A7EB-9C1A-67A3-3BB8-6163152436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255" y="3263542"/>
            <a:ext cx="6531530" cy="33730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E266D5-2896-A338-35F6-81CD75772A18}"/>
              </a:ext>
            </a:extLst>
          </p:cNvPr>
          <p:cNvSpPr txBox="1"/>
          <p:nvPr/>
        </p:nvSpPr>
        <p:spPr>
          <a:xfrm>
            <a:off x="1775520" y="6589919"/>
            <a:ext cx="67180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Source: https://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xavierbourretsicotte.github.io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Kernel_feature_map.html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9158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953C-FCE1-71E3-1EBE-654415E44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Kernels – quick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5C82E-0D8B-0159-2853-63FE5DE9C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/>
              <a:t>Linear</a:t>
            </a:r>
            <a:r>
              <a:rPr lang="en-GB"/>
              <a:t> → Straight boundary → Low flexibility</a:t>
            </a:r>
          </a:p>
          <a:p>
            <a:pPr marL="0" indent="0">
              <a:buNone/>
            </a:pPr>
            <a:endParaRPr lang="en-GB"/>
          </a:p>
          <a:p>
            <a:r>
              <a:rPr lang="en-GB" b="1"/>
              <a:t>Polynomial</a:t>
            </a:r>
            <a:r>
              <a:rPr lang="en-GB"/>
              <a:t> → Smooth curves → Medium flexibility</a:t>
            </a:r>
          </a:p>
          <a:p>
            <a:pPr marL="0" indent="0">
              <a:buNone/>
            </a:pPr>
            <a:endParaRPr lang="en-GB"/>
          </a:p>
          <a:p>
            <a:r>
              <a:rPr lang="en-GB" b="1"/>
              <a:t>RBF</a:t>
            </a:r>
            <a:r>
              <a:rPr lang="en-GB"/>
              <a:t> → Complex boundary → High flexibility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55C83-A33E-B655-898D-6C280D78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2EE9-B8A0-0641-9265-052CFE9B95A7}" type="slidenum">
              <a:rPr lang="en-GB" altLang="en-US" smtClean="0"/>
              <a:pPr/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14926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A669C-66F4-A29F-8654-C23A6888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Support Vector Machines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0E544-9FE9-2121-06A2-3A18632F1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sz="2160" dirty="0">
                <a:ea typeface="ＭＳ Ｐゴシック" panose="020B0600070205080204" pitchFamily="34" charset="-128"/>
              </a:rPr>
              <a:t>Support vector machines (SVMs) are a set of supervised learning methods used for classification, regression and outlier detection.</a:t>
            </a:r>
          </a:p>
          <a:p>
            <a:r>
              <a:rPr lang="en-GB" altLang="en-US" sz="2160" dirty="0">
                <a:ea typeface="ＭＳ Ｐゴシック" panose="020B0600070205080204" pitchFamily="34" charset="-128"/>
              </a:rPr>
              <a:t>SVM aims to choose the separating hyperplane with the largest margin</a:t>
            </a:r>
          </a:p>
          <a:p>
            <a:r>
              <a:rPr lang="en-GB" altLang="en-US" sz="2160" dirty="0">
                <a:ea typeface="ＭＳ Ｐゴシック" panose="020B0600070205080204" pitchFamily="34" charset="-128"/>
              </a:rPr>
              <a:t>Margin: distance between the decision boundary and the closest data points</a:t>
            </a:r>
          </a:p>
          <a:p>
            <a:r>
              <a:rPr lang="en-GB" altLang="en-US" sz="2160" dirty="0">
                <a:ea typeface="ＭＳ Ｐゴシック" panose="020B0600070205080204" pitchFamily="34" charset="-128"/>
              </a:rPr>
              <a:t>Maximise the margin to make model more robust to noise and better generalisation on unseen data, which depends on critical points called </a:t>
            </a:r>
            <a:r>
              <a:rPr lang="en-GB" altLang="en-US" sz="2160" i="1" dirty="0">
                <a:ea typeface="ＭＳ Ｐゴシック" panose="020B0600070205080204" pitchFamily="34" charset="-128"/>
              </a:rPr>
              <a:t>support vectors</a:t>
            </a:r>
            <a:endParaRPr lang="en-GB" altLang="en-US" sz="2160" dirty="0">
              <a:ea typeface="ＭＳ Ｐゴシック" panose="020B0600070205080204" pitchFamily="34" charset="-128"/>
            </a:endParaRPr>
          </a:p>
          <a:p>
            <a:r>
              <a:rPr lang="en-GB" altLang="en-US" sz="2160" dirty="0">
                <a:ea typeface="ＭＳ Ｐゴシック" panose="020B0600070205080204" pitchFamily="34" charset="-128"/>
              </a:rPr>
              <a:t>SVM is a linear model that applies a non-linear kernel to divide non-linear data across a boundary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A3B5E-389A-2AA7-1C28-28676E54B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75514D-24C3-7C49-615A-6D16A76A97EE}"/>
              </a:ext>
            </a:extLst>
          </p:cNvPr>
          <p:cNvSpPr txBox="1"/>
          <p:nvPr/>
        </p:nvSpPr>
        <p:spPr>
          <a:xfrm>
            <a:off x="609600" y="6399791"/>
            <a:ext cx="2345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Source: Scikit learn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775032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8716-B870-E736-C1C3-2DD12906D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–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C0412-18F4-F1CF-59E6-75003B54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415"/>
            <a:ext cx="10972800" cy="3805942"/>
          </a:xfrm>
        </p:spPr>
        <p:txBody>
          <a:bodyPr/>
          <a:lstStyle/>
          <a:p>
            <a:r>
              <a:rPr lang="en-GB" altLang="en-US" sz="2160" dirty="0">
                <a:ea typeface="ＭＳ Ｐゴシック" panose="020B0600070205080204" pitchFamily="34" charset="-128"/>
              </a:rPr>
              <a:t>The advantages of support vector machines are:</a:t>
            </a:r>
          </a:p>
          <a:p>
            <a:pPr lvl="1"/>
            <a:r>
              <a:rPr lang="en-GB" altLang="en-US" sz="2160" dirty="0">
                <a:ea typeface="ＭＳ Ｐゴシック" panose="020B0600070205080204" pitchFamily="34" charset="-128"/>
              </a:rPr>
              <a:t>Effective in high-dimensional spaces.</a:t>
            </a:r>
          </a:p>
          <a:p>
            <a:pPr lvl="1"/>
            <a:r>
              <a:rPr lang="en-GB" altLang="en-US" sz="2160" dirty="0">
                <a:ea typeface="ＭＳ Ｐゴシック" panose="020B0600070205080204" pitchFamily="34" charset="-128"/>
              </a:rPr>
              <a:t>It could still be effective in cases where the number of dimensions is greater than the number of samples.</a:t>
            </a:r>
          </a:p>
          <a:p>
            <a:pPr lvl="1"/>
            <a:r>
              <a:rPr lang="en-GB" altLang="en-US" sz="2160" dirty="0">
                <a:ea typeface="ＭＳ Ｐゴシック" panose="020B0600070205080204" pitchFamily="34" charset="-128"/>
              </a:rPr>
              <a:t>It uses a subset of training points in the decision function (called support vectors), making it also memory-efficient.</a:t>
            </a:r>
          </a:p>
          <a:p>
            <a:pPr lvl="1"/>
            <a:r>
              <a:rPr lang="en-GB" altLang="en-US" sz="2160" dirty="0">
                <a:ea typeface="ＭＳ Ｐゴシック" panose="020B0600070205080204" pitchFamily="34" charset="-128"/>
              </a:rPr>
              <a:t>Versatile: Different kernel functions can be specified for the decision function. Common kernels are provided, but it is also possible to define custom kernels.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14318-1EE1-872B-B5B8-5651F2B91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2EE9-B8A0-0641-9265-052CFE9B95A7}" type="slidenum">
              <a:rPr lang="en-GB" altLang="en-US" smtClean="0"/>
              <a:pPr/>
              <a:t>18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982325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A3271-3C6B-E052-4B02-2E092A00D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SVM -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099E5-65A0-747B-F18C-D390D312F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The disadvantages of support vector machines include:</a:t>
            </a:r>
          </a:p>
          <a:p>
            <a:pPr lvl="1"/>
            <a:r>
              <a:rPr lang="en-GB" altLang="en-US" sz="2400" dirty="0">
                <a:ea typeface="ＭＳ Ｐゴシック" panose="020B0600070205080204" pitchFamily="34" charset="-128"/>
              </a:rPr>
              <a:t>If the number of features exceeds the number of samples, the method will likely give poor performance.</a:t>
            </a:r>
          </a:p>
          <a:p>
            <a:pPr lvl="1"/>
            <a:r>
              <a:rPr lang="en-GB" altLang="en-US" sz="2400" dirty="0">
                <a:ea typeface="ＭＳ Ｐゴシック" panose="020B0600070205080204" pitchFamily="34" charset="-128"/>
              </a:rPr>
              <a:t>SVMs </a:t>
            </a:r>
            <a:r>
              <a:rPr lang="en-GB" altLang="en-US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do not directly provide probability estimates</a:t>
            </a:r>
            <a:r>
              <a:rPr lang="en-GB" altLang="en-US" sz="2400" dirty="0">
                <a:ea typeface="ＭＳ Ｐゴシック" panose="020B0600070205080204" pitchFamily="34" charset="-128"/>
              </a:rPr>
              <a:t>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4F9DC-82A2-0EF6-665A-47E5C7AEA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2844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604CD-B8A7-90E0-C8EC-B045E993C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SVM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E44A8-F350-1DD1-608F-E92CEA6F7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A Support Vector Machine (SVM) is a discriminative classifier formally defined by a </a:t>
            </a:r>
            <a:r>
              <a:rPr lang="en-GB" altLang="en-US" b="1">
                <a:latin typeface="Gill Sans MT" panose="020B0502020104020203" pitchFamily="34" charset="77"/>
                <a:ea typeface="ＭＳ Ｐゴシック" panose="020B0600070205080204" pitchFamily="34" charset="-128"/>
              </a:rPr>
              <a:t>separating hyperplane</a:t>
            </a:r>
            <a:r>
              <a:rPr lang="en-GB" altLang="en-US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. </a:t>
            </a:r>
          </a:p>
          <a:p>
            <a:r>
              <a:rPr lang="en-GB" altLang="en-US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In other words, given labelled training data (supervised learning), the algorithm outputs an optimal hyperplane which categorises new examples.</a:t>
            </a:r>
          </a:p>
          <a:p>
            <a:endParaRPr lang="en-GB" altLang="en-US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  <a:p>
            <a:r>
              <a:rPr lang="en-GB" altLang="en-US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e.g., For a linearly separable set of 2D-points which belong to one of two classes, find a separating straight line.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7824E-52BF-49E8-45B5-FAD4DF015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1555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13ECC-968A-9D70-3149-03163F5EB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SVM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EBF28-C635-4A10-AE78-64D050E11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BDF68A-7787-2D69-ED1C-C29B4C47F2F8}"/>
              </a:ext>
            </a:extLst>
          </p:cNvPr>
          <p:cNvSpPr txBox="1"/>
          <p:nvPr/>
        </p:nvSpPr>
        <p:spPr>
          <a:xfrm>
            <a:off x="1150531" y="6389688"/>
            <a:ext cx="73229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Source: https://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vovkos.github.io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doxyrest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-showcase/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opencv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sphinx_rtd_theme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page_tutorial_introduction_to_svm.html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40C09238-A160-930D-86BE-E3E2CF695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893" y="1508602"/>
            <a:ext cx="4572000" cy="448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5216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D0E5D-4A4C-0051-442A-AD9231873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separation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6C8FE-3DC9-0C2B-8089-BB44B7E4F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In this example, we deal with lines and points in the Cartesian plane </a:t>
            </a:r>
            <a:r>
              <a:rPr lang="en-GB" altLang="en-US" b="1">
                <a:latin typeface="Gill Sans MT" panose="020B0502020104020203" pitchFamily="34" charset="77"/>
                <a:ea typeface="ＭＳ Ｐゴシック" panose="020B0600070205080204" pitchFamily="34" charset="-128"/>
              </a:rPr>
              <a:t>instead</a:t>
            </a:r>
            <a:r>
              <a:rPr lang="en-GB" altLang="en-US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 of hyperplanes and vectors in a high-dimensional space. </a:t>
            </a:r>
          </a:p>
          <a:p>
            <a:r>
              <a:rPr lang="en-GB" altLang="en-US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This is a simplification of the problem.</a:t>
            </a:r>
          </a:p>
          <a:p>
            <a:r>
              <a:rPr lang="en-GB" altLang="en-US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It is important to understand that this is done only because our intuition is better built from easily imagined examples. </a:t>
            </a:r>
          </a:p>
          <a:p>
            <a:r>
              <a:rPr lang="en-GB" altLang="en-US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However, the same concepts apply to tasks where the examples to classify lie in a space whose dimension is higher than two.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F2E23-5025-2CEF-AA19-2156675A7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D91A3B-6062-E274-0C06-A6174415393C}"/>
              </a:ext>
            </a:extLst>
          </p:cNvPr>
          <p:cNvSpPr txBox="1"/>
          <p:nvPr/>
        </p:nvSpPr>
        <p:spPr>
          <a:xfrm>
            <a:off x="609600" y="6428502"/>
            <a:ext cx="73229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Source: https://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vovkos.github.io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doxyrest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-showcase/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opencv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sphinx_rtd_theme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page_tutorial_introduction_to_svm.html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3941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E7DEC1-71E1-B049-8C1B-86C1185E1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SVM – linear separation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AB2B03-0FE2-97A5-2B57-A0444E984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We can intuitively define a criterion to estimate the worth of the lines:</a:t>
            </a:r>
          </a:p>
          <a:p>
            <a:pPr lvl="1"/>
            <a:r>
              <a:rPr lang="en-GB" altLang="en-US" sz="2400" dirty="0">
                <a:ea typeface="ＭＳ Ｐゴシック" panose="020B0600070205080204" pitchFamily="34" charset="-128"/>
              </a:rPr>
              <a:t>A line is bad if it passes </a:t>
            </a:r>
            <a:r>
              <a:rPr lang="en-GB" altLang="en-US" sz="2400" b="1">
                <a:ea typeface="ＭＳ Ｐゴシック" panose="020B0600070205080204" pitchFamily="34" charset="-128"/>
              </a:rPr>
              <a:t>too close </a:t>
            </a:r>
            <a:r>
              <a:rPr lang="en-GB" altLang="en-US" sz="2400" dirty="0">
                <a:ea typeface="ＭＳ Ｐゴシック" panose="020B0600070205080204" pitchFamily="34" charset="-128"/>
              </a:rPr>
              <a:t>to the points because it will be noise-sensitive and will </a:t>
            </a:r>
            <a:r>
              <a:rPr lang="en-GB" altLang="en-US" sz="2400" b="1">
                <a:ea typeface="ＭＳ Ｐゴシック" panose="020B0600070205080204" pitchFamily="34" charset="-128"/>
              </a:rPr>
              <a:t>not generalise </a:t>
            </a:r>
            <a:r>
              <a:rPr lang="en-GB" altLang="en-US" sz="2400" dirty="0">
                <a:ea typeface="ＭＳ Ｐゴシック" panose="020B0600070205080204" pitchFamily="34" charset="-128"/>
              </a:rPr>
              <a:t>correctly. Therefore, our goal should be to find the line passing as far as possible from all points.</a:t>
            </a:r>
          </a:p>
          <a:p>
            <a:pPr lvl="1"/>
            <a:r>
              <a:rPr lang="en-GB" altLang="en-US" sz="2400" dirty="0">
                <a:ea typeface="ＭＳ Ｐゴシック" panose="020B0600070205080204" pitchFamily="34" charset="-128"/>
              </a:rPr>
              <a:t>Then, the SVM algorithm operates by finding the hyperplane that </a:t>
            </a:r>
            <a:r>
              <a:rPr lang="en-GB" altLang="en-US" sz="2400" b="1">
                <a:ea typeface="ＭＳ Ｐゴシック" panose="020B0600070205080204" pitchFamily="34" charset="-128"/>
              </a:rPr>
              <a:t>maximises</a:t>
            </a:r>
            <a:r>
              <a:rPr lang="en-GB" altLang="en-US" sz="2400" dirty="0">
                <a:ea typeface="ＭＳ Ｐゴシック" panose="020B0600070205080204" pitchFamily="34" charset="-128"/>
              </a:rPr>
              <a:t> the minimum distance to the training examples. </a:t>
            </a:r>
          </a:p>
          <a:p>
            <a:pPr lvl="1"/>
            <a:r>
              <a:rPr lang="en-GB" altLang="en-US" sz="2400" dirty="0">
                <a:ea typeface="ＭＳ Ｐゴシック" panose="020B0600070205080204" pitchFamily="34" charset="-128"/>
              </a:rPr>
              <a:t>This distance is given the important name of the margin in SVM. Therefore, the optimal separating hyperplane </a:t>
            </a:r>
            <a:r>
              <a:rPr lang="en-GB" altLang="en-US" sz="2400" b="1">
                <a:ea typeface="ＭＳ Ｐゴシック" panose="020B0600070205080204" pitchFamily="34" charset="-128"/>
              </a:rPr>
              <a:t>maximises the margin </a:t>
            </a:r>
            <a:r>
              <a:rPr lang="en-GB" altLang="en-US" sz="2400" dirty="0">
                <a:ea typeface="ＭＳ Ｐゴシック" panose="020B0600070205080204" pitchFamily="34" charset="-128"/>
              </a:rPr>
              <a:t>of the training data.</a:t>
            </a:r>
          </a:p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8C5454-79F4-E2FD-4BD8-D2F308021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98F552-A29D-2D4E-8192-F20670493719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4D29A4-A58B-43B8-A27E-02047E94C1E0}"/>
              </a:ext>
            </a:extLst>
          </p:cNvPr>
          <p:cNvSpPr txBox="1"/>
          <p:nvPr/>
        </p:nvSpPr>
        <p:spPr>
          <a:xfrm>
            <a:off x="609600" y="6362702"/>
            <a:ext cx="7322909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Source: https://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vovkos</a:t>
            </a:r>
            <a:r>
              <a:rPr kumimoji="0" lang="en-GB" sz="108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.github.io</a:t>
            </a:r>
            <a:r>
              <a:rPr kumimoji="0" lang="en-GB" sz="108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</a:t>
            </a:r>
            <a:r>
              <a:rPr kumimoji="0" lang="en-GB" sz="108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doxyrest</a:t>
            </a:r>
            <a:r>
              <a:rPr kumimoji="0" lang="en-GB" sz="108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-showcase/</a:t>
            </a:r>
            <a:r>
              <a:rPr kumimoji="0" lang="en-GB" sz="108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opencv</a:t>
            </a:r>
            <a:r>
              <a:rPr kumimoji="0" lang="en-GB" sz="108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</a:t>
            </a:r>
            <a:r>
              <a:rPr kumimoji="0" lang="en-GB" sz="108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sphinx_rtd_theme</a:t>
            </a:r>
            <a:r>
              <a:rPr kumimoji="0" lang="en-GB" sz="108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</a:t>
            </a:r>
            <a:r>
              <a:rPr kumimoji="0" lang="en-GB" sz="108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page_tutorial_introduction_to_svm.html</a:t>
            </a:r>
            <a:endParaRPr kumimoji="0" lang="en-GB" sz="108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7421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3FD70-EBF7-D622-9A5A-ADD36429F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latin typeface="Gill Sans MT" panose="020B0502020104020203" pitchFamily="34" charset="77"/>
                <a:ea typeface="ＭＳ Ｐゴシック" panose="020B0600070205080204" pitchFamily="34" charset="-128"/>
              </a:rPr>
              <a:t>Example: SVM for a linearly separable set of 2d-points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55DBFA-9D1B-0E5D-9F42-27CA1F38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98F552-A29D-2D4E-8192-F20670493719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5D9796-AB08-B538-78D1-B0DA7681D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303" y="1503000"/>
            <a:ext cx="4945082" cy="4878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0FC8EB-487B-2F7A-E7A7-E550395CFBBA}"/>
              </a:ext>
            </a:extLst>
          </p:cNvPr>
          <p:cNvSpPr txBox="1"/>
          <p:nvPr/>
        </p:nvSpPr>
        <p:spPr>
          <a:xfrm>
            <a:off x="609600" y="6381751"/>
            <a:ext cx="7322909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Source: https://</a:t>
            </a:r>
            <a:r>
              <a:rPr kumimoji="0" lang="en-GB" sz="108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vovkos.github.io</a:t>
            </a:r>
            <a:r>
              <a:rPr kumimoji="0" lang="en-GB" sz="108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</a:t>
            </a:r>
            <a:r>
              <a:rPr kumimoji="0" lang="en-GB" sz="108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doxyrest</a:t>
            </a:r>
            <a:r>
              <a:rPr kumimoji="0" lang="en-GB" sz="108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-showcase/</a:t>
            </a:r>
            <a:r>
              <a:rPr kumimoji="0" lang="en-GB" sz="108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opencv</a:t>
            </a:r>
            <a:r>
              <a:rPr kumimoji="0" lang="en-GB" sz="108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</a:t>
            </a:r>
            <a:r>
              <a:rPr kumimoji="0" lang="en-GB" sz="108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sphinx_rtd_theme</a:t>
            </a:r>
            <a:r>
              <a:rPr kumimoji="0" lang="en-GB" sz="108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</a:t>
            </a:r>
            <a:r>
              <a:rPr kumimoji="0" lang="en-GB" sz="108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page_tutorial_introduction_to_svm.html</a:t>
            </a:r>
            <a:endParaRPr kumimoji="0" lang="en-GB" sz="108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09149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EF3F5-A2B0-0E71-3DBC-290C7F18C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Mathematical formulation*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A316FB-B401-8EF0-4985-7A97963FE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98F552-A29D-2D4E-8192-F20670493719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1E7962-D784-983B-1687-794B053FA2B7}"/>
              </a:ext>
            </a:extLst>
          </p:cNvPr>
          <p:cNvSpPr txBox="1"/>
          <p:nvPr/>
        </p:nvSpPr>
        <p:spPr>
          <a:xfrm>
            <a:off x="609600" y="6321067"/>
            <a:ext cx="72364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Source: https://scikit-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learn.org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/stable/modules/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svm.html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F8DD320A-DF45-BA5C-15F6-6B3C42F9F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797" y="921692"/>
            <a:ext cx="5626554" cy="3647986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2CA6C5C9-37A0-E0EE-0B25-7B37390CF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303" y="4569679"/>
            <a:ext cx="3345775" cy="128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787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37E28-C5C2-3A5D-BAC4-0FE4D9958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SVM with different kernels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0F89C-D3A9-4DDC-8C3E-9CDE84830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pic>
        <p:nvPicPr>
          <p:cNvPr id="5" name="Picture 3" descr="Screen Shot 2017-02-21 at 21.02.25.png">
            <a:extLst>
              <a:ext uri="{FF2B5EF4-FFF2-40B4-BE49-F238E27FC236}">
                <a16:creationId xmlns:a16="http://schemas.microsoft.com/office/drawing/2014/main" id="{0C53E78D-2D63-84FC-8D43-ED6004E02E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206" y="1514465"/>
            <a:ext cx="6610320" cy="4867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35F9DD-E627-F565-AE23-03157F7F89DC}"/>
              </a:ext>
            </a:extLst>
          </p:cNvPr>
          <p:cNvSpPr txBox="1"/>
          <p:nvPr/>
        </p:nvSpPr>
        <p:spPr>
          <a:xfrm>
            <a:off x="609600" y="6381751"/>
            <a:ext cx="73229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Source: https://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vovkos.github.io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doxyrest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-showcase/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opencv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sphinx_rtd_theme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page_tutorial_introduction_to_svm.html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1933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E073-9189-2D0E-294C-8ADC147D5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Menti meter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2CC46-E0A4-176C-BDF7-E4C096F92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402094"/>
            <a:ext cx="10972800" cy="835195"/>
          </a:xfrm>
        </p:spPr>
        <p:txBody>
          <a:bodyPr/>
          <a:lstStyle/>
          <a:p>
            <a:pPr marL="0" indent="0" algn="ctr">
              <a:buNone/>
            </a:pPr>
            <a:r>
              <a:rPr lang="en-US">
                <a:hlinkClick r:id="rId2"/>
              </a:rPr>
              <a:t>https://www.menti.com/alp1axuqbv1p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Code: </a:t>
            </a:r>
            <a:r>
              <a:rPr lang="en-GB"/>
              <a:t>4790 0935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0B31F-A9CF-0A03-2774-C071F575C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2EE9-B8A0-0641-9265-052CFE9B95A7}" type="slidenum">
              <a:rPr lang="en-GB" altLang="en-US" smtClean="0"/>
              <a:pPr/>
              <a:t>27</a:t>
            </a:fld>
            <a:endParaRPr lang="en-GB" altLang="en-US" dirty="0"/>
          </a:p>
        </p:txBody>
      </p:sp>
      <p:pic>
        <p:nvPicPr>
          <p:cNvPr id="7" name="Picture 6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02FB60F0-741E-8935-E9AA-7C66FC664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056" y="1003851"/>
            <a:ext cx="4263887" cy="426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09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6BCFE-1B44-72D1-0A06-2B93A632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 trees</a:t>
            </a:r>
          </a:p>
        </p:txBody>
      </p:sp>
      <p:sp>
        <p:nvSpPr>
          <p:cNvPr id="116" name="Content Placeholder 2">
            <a:extLst>
              <a:ext uri="{FF2B5EF4-FFF2-40B4-BE49-F238E27FC236}">
                <a16:creationId xmlns:a16="http://schemas.microsoft.com/office/drawing/2014/main" id="{DC3DA309-B045-C0D6-7CC5-C50AF6556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415"/>
            <a:ext cx="10820400" cy="1571500"/>
          </a:xfrm>
        </p:spPr>
        <p:txBody>
          <a:bodyPr/>
          <a:lstStyle/>
          <a:p>
            <a:r>
              <a:rPr lang="en-US" dirty="0"/>
              <a:t>Two approaches to overcome data that are not linearly separable:</a:t>
            </a: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5E0FC2F1-572D-ED15-BF60-596BF208D06B}"/>
              </a:ext>
            </a:extLst>
          </p:cNvPr>
          <p:cNvGrpSpPr/>
          <p:nvPr/>
        </p:nvGrpSpPr>
        <p:grpSpPr>
          <a:xfrm>
            <a:off x="6849905" y="3605867"/>
            <a:ext cx="3370329" cy="2615679"/>
            <a:chOff x="3855525" y="2986218"/>
            <a:chExt cx="4289898" cy="3329347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2A9F633B-5884-E97D-1F3B-BCD5DA72AF80}"/>
                </a:ext>
              </a:extLst>
            </p:cNvPr>
            <p:cNvSpPr/>
            <p:nvPr/>
          </p:nvSpPr>
          <p:spPr>
            <a:xfrm>
              <a:off x="4414867" y="4757946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81E0A9DA-80D2-BDEA-FF32-696E3838DDA6}"/>
                </a:ext>
              </a:extLst>
            </p:cNvPr>
            <p:cNvSpPr/>
            <p:nvPr/>
          </p:nvSpPr>
          <p:spPr>
            <a:xfrm>
              <a:off x="5427018" y="5357740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F54AD411-E695-4DD2-1EE4-82D71920708B}"/>
                </a:ext>
              </a:extLst>
            </p:cNvPr>
            <p:cNvSpPr/>
            <p:nvPr/>
          </p:nvSpPr>
          <p:spPr>
            <a:xfrm>
              <a:off x="5013967" y="5155825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70790B8A-4FA4-A1B2-D6F7-E1AB5589D48D}"/>
                </a:ext>
              </a:extLst>
            </p:cNvPr>
            <p:cNvSpPr/>
            <p:nvPr/>
          </p:nvSpPr>
          <p:spPr>
            <a:xfrm>
              <a:off x="4654353" y="5178100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9C32C06A-B205-A306-4A77-FDC32D791BA1}"/>
                </a:ext>
              </a:extLst>
            </p:cNvPr>
            <p:cNvSpPr/>
            <p:nvPr/>
          </p:nvSpPr>
          <p:spPr>
            <a:xfrm>
              <a:off x="5341573" y="4303183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07FC8FA9-F30F-2C0F-74C8-E8FBF082B342}"/>
                </a:ext>
              </a:extLst>
            </p:cNvPr>
            <p:cNvSpPr/>
            <p:nvPr/>
          </p:nvSpPr>
          <p:spPr>
            <a:xfrm>
              <a:off x="6189324" y="4160644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2099BE00-DF0C-C3D5-2F66-97271072B8DA}"/>
                </a:ext>
              </a:extLst>
            </p:cNvPr>
            <p:cNvSpPr/>
            <p:nvPr/>
          </p:nvSpPr>
          <p:spPr>
            <a:xfrm>
              <a:off x="5524818" y="4997432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1DA6BAA1-201F-4DF8-B861-CB08CDA3ECB8}"/>
                </a:ext>
              </a:extLst>
            </p:cNvPr>
            <p:cNvSpPr/>
            <p:nvPr/>
          </p:nvSpPr>
          <p:spPr>
            <a:xfrm>
              <a:off x="5872652" y="5031030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268820F6-D35F-8C6A-4549-08CCD6800E53}"/>
                </a:ext>
              </a:extLst>
            </p:cNvPr>
            <p:cNvSpPr/>
            <p:nvPr/>
          </p:nvSpPr>
          <p:spPr>
            <a:xfrm>
              <a:off x="5598788" y="4638203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4B824FC4-1853-BB75-4C0B-8F25CAEBD8D3}"/>
                </a:ext>
              </a:extLst>
            </p:cNvPr>
            <p:cNvSpPr/>
            <p:nvPr/>
          </p:nvSpPr>
          <p:spPr>
            <a:xfrm rot="8456398">
              <a:off x="7428633" y="4619803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AC640FFE-E8F2-6F94-00A4-45E26DE995A0}"/>
                </a:ext>
              </a:extLst>
            </p:cNvPr>
            <p:cNvSpPr/>
            <p:nvPr/>
          </p:nvSpPr>
          <p:spPr>
            <a:xfrm rot="8456398">
              <a:off x="7054009" y="4797353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24EB5A7F-C2D0-93F0-D5AB-0E22E01A7B19}"/>
                </a:ext>
              </a:extLst>
            </p:cNvPr>
            <p:cNvSpPr/>
            <p:nvPr/>
          </p:nvSpPr>
          <p:spPr>
            <a:xfrm rot="8456398">
              <a:off x="6736120" y="4284707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E88C493-49F2-4AAE-4AF6-261A7C4464AB}"/>
                </a:ext>
              </a:extLst>
            </p:cNvPr>
            <p:cNvSpPr/>
            <p:nvPr/>
          </p:nvSpPr>
          <p:spPr>
            <a:xfrm rot="8456398">
              <a:off x="6319172" y="4721058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2F16E9B3-8716-1986-B373-9B6C92C14622}"/>
                </a:ext>
              </a:extLst>
            </p:cNvPr>
            <p:cNvSpPr/>
            <p:nvPr/>
          </p:nvSpPr>
          <p:spPr>
            <a:xfrm rot="8456398">
              <a:off x="7165707" y="5211399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57643CD4-58BC-9FF3-9EE8-BB6778329923}"/>
                </a:ext>
              </a:extLst>
            </p:cNvPr>
            <p:cNvSpPr/>
            <p:nvPr/>
          </p:nvSpPr>
          <p:spPr>
            <a:xfrm rot="8456398">
              <a:off x="5942428" y="3036461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59AD4DDE-2476-521D-2A3D-C23A137D87D6}"/>
                </a:ext>
              </a:extLst>
            </p:cNvPr>
            <p:cNvSpPr/>
            <p:nvPr/>
          </p:nvSpPr>
          <p:spPr>
            <a:xfrm rot="8456398">
              <a:off x="6679182" y="4905555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622479EF-5E3F-F9B6-457D-D9212A707221}"/>
                </a:ext>
              </a:extLst>
            </p:cNvPr>
            <p:cNvSpPr/>
            <p:nvPr/>
          </p:nvSpPr>
          <p:spPr>
            <a:xfrm rot="8456398">
              <a:off x="6407594" y="5210071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085AFE0C-9858-96C2-1134-B7EF65BB8614}"/>
                </a:ext>
              </a:extLst>
            </p:cNvPr>
            <p:cNvSpPr/>
            <p:nvPr/>
          </p:nvSpPr>
          <p:spPr>
            <a:xfrm rot="8456398">
              <a:off x="6861070" y="5388814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307D9111-0F2D-BEC8-0660-2DD9D1F2779E}"/>
                </a:ext>
              </a:extLst>
            </p:cNvPr>
            <p:cNvSpPr/>
            <p:nvPr/>
          </p:nvSpPr>
          <p:spPr>
            <a:xfrm>
              <a:off x="5636320" y="3821601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480C2276-1B5F-5471-E94F-725BDFD9915D}"/>
                </a:ext>
              </a:extLst>
            </p:cNvPr>
            <p:cNvSpPr/>
            <p:nvPr/>
          </p:nvSpPr>
          <p:spPr>
            <a:xfrm>
              <a:off x="6062171" y="3801050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F39482B8-FDF3-942F-FB97-9CB88D0B69C2}"/>
                </a:ext>
              </a:extLst>
            </p:cNvPr>
            <p:cNvSpPr/>
            <p:nvPr/>
          </p:nvSpPr>
          <p:spPr>
            <a:xfrm>
              <a:off x="6559439" y="3791015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80A70ED9-FB71-863C-4953-DFDCA16DE2B7}"/>
                </a:ext>
              </a:extLst>
            </p:cNvPr>
            <p:cNvSpPr/>
            <p:nvPr/>
          </p:nvSpPr>
          <p:spPr>
            <a:xfrm>
              <a:off x="6980813" y="3850538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070EE743-4684-23A3-FA2A-58F4D67797E1}"/>
                </a:ext>
              </a:extLst>
            </p:cNvPr>
            <p:cNvSpPr/>
            <p:nvPr/>
          </p:nvSpPr>
          <p:spPr>
            <a:xfrm>
              <a:off x="6087931" y="5451364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005408DB-5A23-A19C-ABA2-3E7170AAA953}"/>
                </a:ext>
              </a:extLst>
            </p:cNvPr>
            <p:cNvSpPr/>
            <p:nvPr/>
          </p:nvSpPr>
          <p:spPr>
            <a:xfrm>
              <a:off x="5666687" y="5782547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D18F1505-855E-C9A1-0D9D-7A550C12A1F9}"/>
                </a:ext>
              </a:extLst>
            </p:cNvPr>
            <p:cNvSpPr/>
            <p:nvPr/>
          </p:nvSpPr>
          <p:spPr>
            <a:xfrm>
              <a:off x="7260200" y="4243737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509B7146-C9F2-5F43-B8FD-3468C9381D92}"/>
                </a:ext>
              </a:extLst>
            </p:cNvPr>
            <p:cNvSpPr/>
            <p:nvPr/>
          </p:nvSpPr>
          <p:spPr>
            <a:xfrm>
              <a:off x="6765833" y="3398962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08E94AB2-AF9D-0F47-7635-8E31BCB182C3}"/>
                </a:ext>
              </a:extLst>
            </p:cNvPr>
            <p:cNvSpPr/>
            <p:nvPr/>
          </p:nvSpPr>
          <p:spPr>
            <a:xfrm>
              <a:off x="5524818" y="3518705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A9ED31CC-CEB3-97DC-11E8-C4B29FD242B9}"/>
                </a:ext>
              </a:extLst>
            </p:cNvPr>
            <p:cNvSpPr/>
            <p:nvPr/>
          </p:nvSpPr>
          <p:spPr>
            <a:xfrm>
              <a:off x="4311486" y="4082930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DA343C67-293A-CE1D-DBE3-C67D24F40BD6}"/>
                </a:ext>
              </a:extLst>
            </p:cNvPr>
            <p:cNvSpPr/>
            <p:nvPr/>
          </p:nvSpPr>
          <p:spPr>
            <a:xfrm>
              <a:off x="5093646" y="3858101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774A7A1F-6E84-0D22-C02A-706F5D635DDE}"/>
                </a:ext>
              </a:extLst>
            </p:cNvPr>
            <p:cNvSpPr/>
            <p:nvPr/>
          </p:nvSpPr>
          <p:spPr>
            <a:xfrm>
              <a:off x="5023445" y="4674917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9F1DFE17-5C12-D661-0BD7-88ED4C04DB75}"/>
                </a:ext>
              </a:extLst>
            </p:cNvPr>
            <p:cNvSpPr/>
            <p:nvPr/>
          </p:nvSpPr>
          <p:spPr>
            <a:xfrm>
              <a:off x="4720218" y="4222909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1075C073-309C-5E77-7991-DE07AFA283A3}"/>
                </a:ext>
              </a:extLst>
            </p:cNvPr>
            <p:cNvSpPr/>
            <p:nvPr/>
          </p:nvSpPr>
          <p:spPr>
            <a:xfrm rot="21379643">
              <a:off x="5983864" y="5955610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5CB5F565-1B29-39F6-510C-B67455BEDD7E}"/>
                </a:ext>
              </a:extLst>
            </p:cNvPr>
            <p:cNvSpPr/>
            <p:nvPr/>
          </p:nvSpPr>
          <p:spPr>
            <a:xfrm rot="21379643">
              <a:off x="4834486" y="5852873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67542346-3A02-B19D-478F-A396D5FFCCA5}"/>
                </a:ext>
              </a:extLst>
            </p:cNvPr>
            <p:cNvSpPr/>
            <p:nvPr/>
          </p:nvSpPr>
          <p:spPr>
            <a:xfrm rot="21379643">
              <a:off x="5351877" y="6008797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1B656163-FE05-AD6A-FE6C-A23FD076F33F}"/>
                </a:ext>
              </a:extLst>
            </p:cNvPr>
            <p:cNvSpPr/>
            <p:nvPr/>
          </p:nvSpPr>
          <p:spPr>
            <a:xfrm>
              <a:off x="4774481" y="3655000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62F05038-0A28-DAF0-327A-D2BF3926757B}"/>
                </a:ext>
              </a:extLst>
            </p:cNvPr>
            <p:cNvSpPr/>
            <p:nvPr/>
          </p:nvSpPr>
          <p:spPr>
            <a:xfrm>
              <a:off x="6604194" y="5734528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D01F9A92-7EDF-E4A4-DA57-CE6E149A9EF3}"/>
                </a:ext>
              </a:extLst>
            </p:cNvPr>
            <p:cNvSpPr/>
            <p:nvPr/>
          </p:nvSpPr>
          <p:spPr>
            <a:xfrm rot="8456398">
              <a:off x="6283073" y="3363766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E80908E8-DCD0-50A1-286B-5A791082B2FC}"/>
                </a:ext>
              </a:extLst>
            </p:cNvPr>
            <p:cNvSpPr/>
            <p:nvPr/>
          </p:nvSpPr>
          <p:spPr>
            <a:xfrm rot="8456398">
              <a:off x="7324033" y="3531485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D44582EA-0BE1-BC9D-A9AB-1C196A59309C}"/>
                </a:ext>
              </a:extLst>
            </p:cNvPr>
            <p:cNvSpPr/>
            <p:nvPr/>
          </p:nvSpPr>
          <p:spPr>
            <a:xfrm rot="8456398">
              <a:off x="6622821" y="2986218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377A5A0-CDC3-64BD-F2E7-983631033930}"/>
                </a:ext>
              </a:extLst>
            </p:cNvPr>
            <p:cNvSpPr/>
            <p:nvPr/>
          </p:nvSpPr>
          <p:spPr>
            <a:xfrm>
              <a:off x="5155374" y="3107266"/>
              <a:ext cx="239486" cy="2394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9D1A34F3-0039-8B87-AD11-FCB179BC2D7F}"/>
                </a:ext>
              </a:extLst>
            </p:cNvPr>
            <p:cNvSpPr/>
            <p:nvPr/>
          </p:nvSpPr>
          <p:spPr>
            <a:xfrm>
              <a:off x="5949838" y="4446410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7ABF9E6B-55A0-684A-CBD9-BE7FE5774B49}"/>
                </a:ext>
              </a:extLst>
            </p:cNvPr>
            <p:cNvSpPr/>
            <p:nvPr/>
          </p:nvSpPr>
          <p:spPr>
            <a:xfrm rot="21379643">
              <a:off x="4414867" y="5528232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531C0EC9-0804-61D6-1AF4-1CC3182949C9}"/>
                </a:ext>
              </a:extLst>
            </p:cNvPr>
            <p:cNvSpPr/>
            <p:nvPr/>
          </p:nvSpPr>
          <p:spPr>
            <a:xfrm rot="21379643">
              <a:off x="3965724" y="5473805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9257C04A-6187-3E99-DC43-1F2DF802DE1D}"/>
                </a:ext>
              </a:extLst>
            </p:cNvPr>
            <p:cNvSpPr/>
            <p:nvPr/>
          </p:nvSpPr>
          <p:spPr>
            <a:xfrm rot="21379643">
              <a:off x="4329667" y="6076079"/>
              <a:ext cx="239486" cy="23948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B710B75D-2968-DA93-61B8-8723B42A9ACB}"/>
                </a:ext>
              </a:extLst>
            </p:cNvPr>
            <p:cNvSpPr/>
            <p:nvPr/>
          </p:nvSpPr>
          <p:spPr>
            <a:xfrm rot="8456398">
              <a:off x="7905937" y="3717273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C0606718-6C0C-4CF5-ED0A-8B9FBEF8519E}"/>
                </a:ext>
              </a:extLst>
            </p:cNvPr>
            <p:cNvSpPr/>
            <p:nvPr/>
          </p:nvSpPr>
          <p:spPr>
            <a:xfrm rot="8456398">
              <a:off x="7661163" y="3999826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0E95F6C-537E-30CC-91BC-8C0AFC39EBFE}"/>
                </a:ext>
              </a:extLst>
            </p:cNvPr>
            <p:cNvSpPr/>
            <p:nvPr/>
          </p:nvSpPr>
          <p:spPr>
            <a:xfrm rot="8456398">
              <a:off x="7412775" y="3063143"/>
              <a:ext cx="239486" cy="239486"/>
            </a:xfrm>
            <a:prstGeom prst="ellipse">
              <a:avLst/>
            </a:prstGeom>
            <a:solidFill>
              <a:srgbClr val="BBE0E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3DA068CA-64C9-9610-2053-1BD2ACC59D42}"/>
                </a:ext>
              </a:extLst>
            </p:cNvPr>
            <p:cNvGrpSpPr/>
            <p:nvPr/>
          </p:nvGrpSpPr>
          <p:grpSpPr>
            <a:xfrm>
              <a:off x="3855525" y="3723023"/>
              <a:ext cx="3790558" cy="2131249"/>
              <a:chOff x="3287486" y="3390510"/>
              <a:chExt cx="3790558" cy="2131249"/>
            </a:xfrm>
          </p:grpSpPr>
          <p:cxnSp>
            <p:nvCxnSpPr>
              <p:cNvPr id="166" name="Elbow Connector 165">
                <a:extLst>
                  <a:ext uri="{FF2B5EF4-FFF2-40B4-BE49-F238E27FC236}">
                    <a16:creationId xmlns:a16="http://schemas.microsoft.com/office/drawing/2014/main" id="{4FAB42CF-07E8-E738-2A95-9FC2AE7415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87486" y="4828868"/>
                <a:ext cx="925468" cy="336866"/>
              </a:xfrm>
              <a:prstGeom prst="bentConnector3">
                <a:avLst/>
              </a:prstGeom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Elbow Connector 166">
                <a:extLst>
                  <a:ext uri="{FF2B5EF4-FFF2-40B4-BE49-F238E27FC236}">
                    <a16:creationId xmlns:a16="http://schemas.microsoft.com/office/drawing/2014/main" id="{4997F3B7-B8CA-D299-C1A6-B7E6FE35E0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50951" y="5166472"/>
                <a:ext cx="833791" cy="346463"/>
              </a:xfrm>
              <a:prstGeom prst="bentConnector3">
                <a:avLst/>
              </a:prstGeom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Elbow Connector 167">
                <a:extLst>
                  <a:ext uri="{FF2B5EF4-FFF2-40B4-BE49-F238E27FC236}">
                    <a16:creationId xmlns:a16="http://schemas.microsoft.com/office/drawing/2014/main" id="{7317073F-65CE-E007-1DD9-65AB0547BA8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956211" y="5152270"/>
                <a:ext cx="392001" cy="346978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Elbow Connector 168">
                <a:extLst>
                  <a:ext uri="{FF2B5EF4-FFF2-40B4-BE49-F238E27FC236}">
                    <a16:creationId xmlns:a16="http://schemas.microsoft.com/office/drawing/2014/main" id="{9ECD285B-5BC4-EE64-5418-6B6B77A06DE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312635" y="4771437"/>
                <a:ext cx="374850" cy="348721"/>
              </a:xfrm>
              <a:prstGeom prst="bentConnector3">
                <a:avLst>
                  <a:gd name="adj1" fmla="val 75872"/>
                </a:avLst>
              </a:prstGeom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Elbow Connector 169">
                <a:extLst>
                  <a:ext uri="{FF2B5EF4-FFF2-40B4-BE49-F238E27FC236}">
                    <a16:creationId xmlns:a16="http://schemas.microsoft.com/office/drawing/2014/main" id="{198C8483-C1EE-BA75-4774-509D27A2E77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221857" y="4313230"/>
                <a:ext cx="557689" cy="343072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Elbow Connector 170">
                <a:extLst>
                  <a:ext uri="{FF2B5EF4-FFF2-40B4-BE49-F238E27FC236}">
                    <a16:creationId xmlns:a16="http://schemas.microsoft.com/office/drawing/2014/main" id="{CF0F645A-D814-074F-D9E9-467F9D64352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11822" y="3915593"/>
                <a:ext cx="523180" cy="87975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Elbow Connector 171">
                <a:extLst>
                  <a:ext uri="{FF2B5EF4-FFF2-40B4-BE49-F238E27FC236}">
                    <a16:creationId xmlns:a16="http://schemas.microsoft.com/office/drawing/2014/main" id="{9E2B6029-5237-87D5-4CD3-36699E5DBC1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376140" y="3434493"/>
                <a:ext cx="303235" cy="223757"/>
              </a:xfrm>
              <a:prstGeom prst="bentConnector3">
                <a:avLst>
                  <a:gd name="adj1" fmla="val -1400"/>
                </a:avLst>
              </a:prstGeom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Elbow Connector 172">
                <a:extLst>
                  <a:ext uri="{FF2B5EF4-FFF2-40B4-BE49-F238E27FC236}">
                    <a16:creationId xmlns:a16="http://schemas.microsoft.com/office/drawing/2014/main" id="{F7F446BA-4666-C37E-A259-38E7112B3A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66372" y="3390510"/>
                <a:ext cx="249579" cy="180971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5DEF3EE0-F6BD-EB1D-3833-39A783F04250}"/>
                  </a:ext>
                </a:extLst>
              </p:cNvPr>
              <p:cNvCxnSpPr/>
              <p:nvPr/>
            </p:nvCxnSpPr>
            <p:spPr>
              <a:xfrm>
                <a:off x="5636171" y="3391290"/>
                <a:ext cx="941572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Elbow Connector 174">
                <a:extLst>
                  <a:ext uri="{FF2B5EF4-FFF2-40B4-BE49-F238E27FC236}">
                    <a16:creationId xmlns:a16="http://schemas.microsoft.com/office/drawing/2014/main" id="{6D3E7E19-3515-6F17-1C64-552D4C12A42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690493" y="3692484"/>
                <a:ext cx="510424" cy="264679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6" name="TextBox 175">
            <a:extLst>
              <a:ext uri="{FF2B5EF4-FFF2-40B4-BE49-F238E27FC236}">
                <a16:creationId xmlns:a16="http://schemas.microsoft.com/office/drawing/2014/main" id="{97FA0978-8254-45CE-18B4-87CF7EA14A3B}"/>
              </a:ext>
            </a:extLst>
          </p:cNvPr>
          <p:cNvSpPr txBox="1"/>
          <p:nvPr/>
        </p:nvSpPr>
        <p:spPr>
          <a:xfrm>
            <a:off x="5826885" y="2595526"/>
            <a:ext cx="5365627" cy="1074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20" marR="0" lvl="1" indent="-2857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720"/>
              </a:spcAft>
              <a:buClrTx/>
              <a:buSzTx/>
              <a:buFont typeface="Verdana" panose="020B0604030504040204" pitchFamily="34" charset="0"/>
              <a:buChar char="−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cs typeface="Arial"/>
              </a:rPr>
              <a:t>Change the decision boundary to allow it to wrap the data </a:t>
            </a:r>
          </a:p>
          <a:p>
            <a:endParaRPr lang="en-US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455416B-8A93-653D-FC35-D8DA4CC2CEC0}"/>
              </a:ext>
            </a:extLst>
          </p:cNvPr>
          <p:cNvSpPr txBox="1"/>
          <p:nvPr/>
        </p:nvSpPr>
        <p:spPr>
          <a:xfrm>
            <a:off x="523148" y="2595526"/>
            <a:ext cx="5365627" cy="1074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20" marR="0" lvl="1" indent="-2857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720"/>
              </a:spcAft>
              <a:buClrTx/>
              <a:buSzTx/>
              <a:buFont typeface="Verdana" panose="020B0604030504040204" pitchFamily="34" charset="0"/>
              <a:buChar char="−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cs typeface="Arial"/>
              </a:rPr>
              <a:t>Transform the data to make them linearly separable</a:t>
            </a:r>
          </a:p>
          <a:p>
            <a:endParaRPr lang="en-US" dirty="0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1F1F67A4-5A83-6D40-6220-DBECD8A0E084}"/>
              </a:ext>
            </a:extLst>
          </p:cNvPr>
          <p:cNvSpPr/>
          <p:nvPr/>
        </p:nvSpPr>
        <p:spPr>
          <a:xfrm rot="2005559">
            <a:off x="2124413" y="4197349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D1168503-F6C9-0390-EFB7-C14636B6EA48}"/>
              </a:ext>
            </a:extLst>
          </p:cNvPr>
          <p:cNvSpPr/>
          <p:nvPr/>
        </p:nvSpPr>
        <p:spPr>
          <a:xfrm rot="2005559">
            <a:off x="2528499" y="5094658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F144259C-BFB0-81CA-626C-79C3F3138C69}"/>
              </a:ext>
            </a:extLst>
          </p:cNvPr>
          <p:cNvSpPr/>
          <p:nvPr/>
        </p:nvSpPr>
        <p:spPr>
          <a:xfrm rot="2005559">
            <a:off x="2345047" y="4717514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1A5005F3-F1DE-585F-C4A2-07BB9696F9B8}"/>
              </a:ext>
            </a:extLst>
          </p:cNvPr>
          <p:cNvSpPr/>
          <p:nvPr/>
        </p:nvSpPr>
        <p:spPr>
          <a:xfrm rot="2005559">
            <a:off x="2099610" y="4576487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C386A970-EA34-3CF4-4674-5A3943CFB18B}"/>
              </a:ext>
            </a:extLst>
          </p:cNvPr>
          <p:cNvSpPr/>
          <p:nvPr/>
        </p:nvSpPr>
        <p:spPr>
          <a:xfrm rot="2005559">
            <a:off x="2928862" y="4300221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611A8C72-528F-2791-56C1-2CE2251C0FEF}"/>
              </a:ext>
            </a:extLst>
          </p:cNvPr>
          <p:cNvSpPr/>
          <p:nvPr/>
        </p:nvSpPr>
        <p:spPr>
          <a:xfrm rot="2005559">
            <a:off x="3546418" y="4573647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FE235F1B-9EE5-53DF-2E2B-213925BAA3EB}"/>
              </a:ext>
            </a:extLst>
          </p:cNvPr>
          <p:cNvSpPr/>
          <p:nvPr/>
        </p:nvSpPr>
        <p:spPr>
          <a:xfrm rot="2005559">
            <a:off x="2729706" y="4655633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080FA844-C89E-40D2-982E-78DC28209387}"/>
              </a:ext>
            </a:extLst>
          </p:cNvPr>
          <p:cNvSpPr/>
          <p:nvPr/>
        </p:nvSpPr>
        <p:spPr>
          <a:xfrm rot="2005559">
            <a:off x="2962092" y="5073297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A06E4163-A608-137C-0ACC-5EC8D6835A8F}"/>
              </a:ext>
            </a:extLst>
          </p:cNvPr>
          <p:cNvSpPr/>
          <p:nvPr/>
        </p:nvSpPr>
        <p:spPr>
          <a:xfrm rot="2005559">
            <a:off x="2952528" y="4631210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14E5C05C-A748-0916-A3C8-AC994B6A398E}"/>
              </a:ext>
            </a:extLst>
          </p:cNvPr>
          <p:cNvSpPr/>
          <p:nvPr/>
        </p:nvSpPr>
        <p:spPr>
          <a:xfrm rot="10461957">
            <a:off x="4160314" y="5477052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62EAA719-4E49-D175-3D96-12E59C15F8C4}"/>
              </a:ext>
            </a:extLst>
          </p:cNvPr>
          <p:cNvSpPr/>
          <p:nvPr/>
        </p:nvSpPr>
        <p:spPr>
          <a:xfrm rot="10461957">
            <a:off x="4665586" y="5727293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0321176C-4DD3-9DDE-C080-E47B1A884476}"/>
              </a:ext>
            </a:extLst>
          </p:cNvPr>
          <p:cNvSpPr/>
          <p:nvPr/>
        </p:nvSpPr>
        <p:spPr>
          <a:xfrm rot="10461957">
            <a:off x="3851258" y="4995334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5C868152-954E-7C4B-0122-03E354E07516}"/>
              </a:ext>
            </a:extLst>
          </p:cNvPr>
          <p:cNvSpPr/>
          <p:nvPr/>
        </p:nvSpPr>
        <p:spPr>
          <a:xfrm rot="10461957">
            <a:off x="3389023" y="5063293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90B7014C-6648-AE28-1C3D-51E40C6ED023}"/>
              </a:ext>
            </a:extLst>
          </p:cNvPr>
          <p:cNvSpPr/>
          <p:nvPr/>
        </p:nvSpPr>
        <p:spPr>
          <a:xfrm rot="10461957">
            <a:off x="3980097" y="5902505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EB37F334-D723-F2FE-5DC1-2FA535651A89}"/>
              </a:ext>
            </a:extLst>
          </p:cNvPr>
          <p:cNvSpPr/>
          <p:nvPr/>
        </p:nvSpPr>
        <p:spPr>
          <a:xfrm rot="10461957">
            <a:off x="3871052" y="3729673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E1E36034-6D08-B4BE-2BD7-3707A929BFF4}"/>
              </a:ext>
            </a:extLst>
          </p:cNvPr>
          <p:cNvSpPr/>
          <p:nvPr/>
        </p:nvSpPr>
        <p:spPr>
          <a:xfrm rot="10461957">
            <a:off x="3586435" y="5871851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290801CC-5938-0EA8-FF3D-99A63776756F}"/>
              </a:ext>
            </a:extLst>
          </p:cNvPr>
          <p:cNvSpPr/>
          <p:nvPr/>
        </p:nvSpPr>
        <p:spPr>
          <a:xfrm rot="10461957">
            <a:off x="3676757" y="5442075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287370EA-ABEA-F4AF-06B2-202BA8C231AA}"/>
              </a:ext>
            </a:extLst>
          </p:cNvPr>
          <p:cNvSpPr/>
          <p:nvPr/>
        </p:nvSpPr>
        <p:spPr>
          <a:xfrm rot="10461957">
            <a:off x="3144170" y="5679630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B645C85E-510B-66DF-9176-4CF56F12BEB9}"/>
              </a:ext>
            </a:extLst>
          </p:cNvPr>
          <p:cNvSpPr/>
          <p:nvPr/>
        </p:nvSpPr>
        <p:spPr>
          <a:xfrm rot="2005559">
            <a:off x="3330546" y="4112010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361168ED-1A99-29B1-275E-DA9FF2FEC39F}"/>
              </a:ext>
            </a:extLst>
          </p:cNvPr>
          <p:cNvSpPr/>
          <p:nvPr/>
        </p:nvSpPr>
        <p:spPr>
          <a:xfrm rot="2005559">
            <a:off x="3618669" y="4282833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43EF6461-72BD-636C-DD4F-FC623FCE7390}"/>
              </a:ext>
            </a:extLst>
          </p:cNvPr>
          <p:cNvSpPr/>
          <p:nvPr/>
        </p:nvSpPr>
        <p:spPr>
          <a:xfrm rot="2005559">
            <a:off x="3949069" y="4491461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C473C6EF-B15F-04D0-D205-5B488E51E240}"/>
              </a:ext>
            </a:extLst>
          </p:cNvPr>
          <p:cNvSpPr/>
          <p:nvPr/>
        </p:nvSpPr>
        <p:spPr>
          <a:xfrm rot="2005559">
            <a:off x="4199602" y="4712852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CAC829EB-ADA5-A08A-88B7-9F250C45CD5B}"/>
              </a:ext>
            </a:extLst>
          </p:cNvPr>
          <p:cNvSpPr/>
          <p:nvPr/>
        </p:nvSpPr>
        <p:spPr>
          <a:xfrm rot="2005559">
            <a:off x="2921338" y="5442076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FE690C41-14B7-B3DA-E2E5-0DB6703005B6}"/>
              </a:ext>
            </a:extLst>
          </p:cNvPr>
          <p:cNvSpPr/>
          <p:nvPr/>
        </p:nvSpPr>
        <p:spPr>
          <a:xfrm rot="2005559">
            <a:off x="2416958" y="5505207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C98ACC5D-62E7-6EAE-819D-3D92D9945FA7}"/>
              </a:ext>
            </a:extLst>
          </p:cNvPr>
          <p:cNvSpPr/>
          <p:nvPr/>
        </p:nvSpPr>
        <p:spPr>
          <a:xfrm rot="2005559">
            <a:off x="4212627" y="5157573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0CFC1606-58FC-4836-F3F6-0A5391F3EF50}"/>
              </a:ext>
            </a:extLst>
          </p:cNvPr>
          <p:cNvSpPr/>
          <p:nvPr/>
        </p:nvSpPr>
        <p:spPr>
          <a:xfrm rot="2005559">
            <a:off x="4254073" y="4323717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B9C8EAE7-DDD9-3787-6009-9FFFEF397EAF}"/>
              </a:ext>
            </a:extLst>
          </p:cNvPr>
          <p:cNvSpPr/>
          <p:nvPr/>
        </p:nvSpPr>
        <p:spPr>
          <a:xfrm rot="2005559">
            <a:off x="3388522" y="3865147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122CFF86-9A74-7156-CEB9-4DC7661478E3}"/>
              </a:ext>
            </a:extLst>
          </p:cNvPr>
          <p:cNvSpPr/>
          <p:nvPr/>
        </p:nvSpPr>
        <p:spPr>
          <a:xfrm rot="2005559">
            <a:off x="2348760" y="3710002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62010144-397F-1CAA-A526-88A9EEB077AA}"/>
              </a:ext>
            </a:extLst>
          </p:cNvPr>
          <p:cNvSpPr/>
          <p:nvPr/>
        </p:nvSpPr>
        <p:spPr>
          <a:xfrm rot="2005559">
            <a:off x="2958920" y="3901085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62E6F22D-3A84-0257-D20A-B7496945D085}"/>
              </a:ext>
            </a:extLst>
          </p:cNvPr>
          <p:cNvSpPr/>
          <p:nvPr/>
        </p:nvSpPr>
        <p:spPr>
          <a:xfrm rot="2005559">
            <a:off x="2559389" y="4406287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67FECEA9-CA5F-51FE-324A-51D7F8F7C7AA}"/>
              </a:ext>
            </a:extLst>
          </p:cNvPr>
          <p:cNvSpPr/>
          <p:nvPr/>
        </p:nvSpPr>
        <p:spPr>
          <a:xfrm rot="2005559">
            <a:off x="2556183" y="3978676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B7140AE0-C8AD-4056-084E-8913D6D802A5}"/>
              </a:ext>
            </a:extLst>
          </p:cNvPr>
          <p:cNvSpPr/>
          <p:nvPr/>
        </p:nvSpPr>
        <p:spPr>
          <a:xfrm rot="1785202">
            <a:off x="2634875" y="5897354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C0D306A8-D859-7FAF-5B64-AAB63F46D28D}"/>
              </a:ext>
            </a:extLst>
          </p:cNvPr>
          <p:cNvSpPr/>
          <p:nvPr/>
        </p:nvSpPr>
        <p:spPr>
          <a:xfrm rot="1785202">
            <a:off x="1925695" y="5162880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C46D0544-7BEE-A8EF-FD27-43279019D9FE}"/>
              </a:ext>
            </a:extLst>
          </p:cNvPr>
          <p:cNvSpPr/>
          <p:nvPr/>
        </p:nvSpPr>
        <p:spPr>
          <a:xfrm rot="1785202">
            <a:off x="2112623" y="5517316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8B2E8B9D-FF7A-CB3B-B874-264DFE54B92C}"/>
              </a:ext>
            </a:extLst>
          </p:cNvPr>
          <p:cNvSpPr/>
          <p:nvPr/>
        </p:nvSpPr>
        <p:spPr>
          <a:xfrm rot="2005559">
            <a:off x="2837542" y="3629784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91AF47B3-8E58-6C6A-C285-0807262BD149}"/>
              </a:ext>
            </a:extLst>
          </p:cNvPr>
          <p:cNvSpPr/>
          <p:nvPr/>
        </p:nvSpPr>
        <p:spPr>
          <a:xfrm rot="2005559">
            <a:off x="3137303" y="6020856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D9C8452E-9560-0D02-284F-48DC3D22F62C}"/>
              </a:ext>
            </a:extLst>
          </p:cNvPr>
          <p:cNvSpPr/>
          <p:nvPr/>
        </p:nvSpPr>
        <p:spPr>
          <a:xfrm rot="10461957">
            <a:off x="3952760" y="4091710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CFAD55F0-6670-8FA9-98CF-6A8A2A1DFC0B}"/>
              </a:ext>
            </a:extLst>
          </p:cNvPr>
          <p:cNvSpPr/>
          <p:nvPr/>
        </p:nvSpPr>
        <p:spPr>
          <a:xfrm rot="10461957">
            <a:off x="4562730" y="4652188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304561E4-01C5-9FA3-CA25-D26399249913}"/>
              </a:ext>
            </a:extLst>
          </p:cNvPr>
          <p:cNvSpPr/>
          <p:nvPr/>
        </p:nvSpPr>
        <p:spPr>
          <a:xfrm rot="10461957">
            <a:off x="4338927" y="3991189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FB7CBB5D-E80E-5F12-2B5E-0726C6C2A92A}"/>
              </a:ext>
            </a:extLst>
          </p:cNvPr>
          <p:cNvSpPr/>
          <p:nvPr/>
        </p:nvSpPr>
        <p:spPr>
          <a:xfrm rot="2005559">
            <a:off x="3324340" y="3435480"/>
            <a:ext cx="188151" cy="188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99D28909-8B22-7CC0-5933-843D25654B05}"/>
              </a:ext>
            </a:extLst>
          </p:cNvPr>
          <p:cNvSpPr/>
          <p:nvPr/>
        </p:nvSpPr>
        <p:spPr>
          <a:xfrm rot="2005559">
            <a:off x="3265715" y="4657379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FD059BA0-CE57-2F26-F661-0F7CB8F4A428}"/>
              </a:ext>
            </a:extLst>
          </p:cNvPr>
          <p:cNvSpPr/>
          <p:nvPr/>
        </p:nvSpPr>
        <p:spPr>
          <a:xfrm rot="1785202">
            <a:off x="1791050" y="4702422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E022FCCD-EBDF-8775-A26D-3B2A16FB87CB}"/>
              </a:ext>
            </a:extLst>
          </p:cNvPr>
          <p:cNvSpPr/>
          <p:nvPr/>
        </p:nvSpPr>
        <p:spPr>
          <a:xfrm rot="1785202">
            <a:off x="1520103" y="4472355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AB8605F9-D7D6-2C21-4FAE-CB73561E9142}"/>
              </a:ext>
            </a:extLst>
          </p:cNvPr>
          <p:cNvSpPr/>
          <p:nvPr/>
        </p:nvSpPr>
        <p:spPr>
          <a:xfrm rot="1785202">
            <a:off x="1498088" y="5090760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2E5BDF07-8CAC-D2C3-6486-5E2736B019D4}"/>
              </a:ext>
            </a:extLst>
          </p:cNvPr>
          <p:cNvSpPr/>
          <p:nvPr/>
        </p:nvSpPr>
        <p:spPr>
          <a:xfrm rot="10461957">
            <a:off x="4863876" y="5091833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DF78C6A8-A81B-8EC5-48AE-8E70B3DD9E96}"/>
              </a:ext>
            </a:extLst>
          </p:cNvPr>
          <p:cNvSpPr/>
          <p:nvPr/>
        </p:nvSpPr>
        <p:spPr>
          <a:xfrm rot="10461957">
            <a:off x="4581096" y="5171169"/>
            <a:ext cx="188151" cy="18815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8EBFFC6C-9554-9C73-F2C1-E02D25AE0A46}"/>
              </a:ext>
            </a:extLst>
          </p:cNvPr>
          <p:cNvSpPr/>
          <p:nvPr/>
        </p:nvSpPr>
        <p:spPr>
          <a:xfrm rot="10461957">
            <a:off x="4823605" y="4383504"/>
            <a:ext cx="188151" cy="188151"/>
          </a:xfrm>
          <a:prstGeom prst="ellipse">
            <a:avLst/>
          </a:prstGeom>
          <a:solidFill>
            <a:srgbClr val="BBE0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1C66F776-6129-D89E-799E-CF7EF2034DDD}"/>
              </a:ext>
            </a:extLst>
          </p:cNvPr>
          <p:cNvCxnSpPr>
            <a:cxnSpLocks/>
          </p:cNvCxnSpPr>
          <p:nvPr/>
        </p:nvCxnSpPr>
        <p:spPr>
          <a:xfrm>
            <a:off x="1125375" y="4967698"/>
            <a:ext cx="4233606" cy="0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B3BDA6FF-5AB6-269C-2917-D190A8E73DF2}"/>
              </a:ext>
            </a:extLst>
          </p:cNvPr>
          <p:cNvSpPr txBox="1"/>
          <p:nvPr/>
        </p:nvSpPr>
        <p:spPr>
          <a:xfrm>
            <a:off x="937600" y="2067310"/>
            <a:ext cx="5365627" cy="828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82"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720"/>
              </a:spcAft>
              <a:buClrTx/>
              <a:buSzTx/>
              <a:tabLst/>
              <a:defRPr/>
            </a:pPr>
            <a:r>
              <a:rPr lang="en-US" sz="2400" kern="0" dirty="0">
                <a:solidFill>
                  <a:srgbClr val="000000"/>
                </a:solidFill>
                <a:latin typeface="Gill Sans MT" panose="020B0502020104020203" pitchFamily="34" charset="77"/>
                <a:cs typeface="Arial"/>
              </a:rPr>
              <a:t>SVM with nonlinear Kernels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cs typeface="Arial"/>
            </a:endParaRPr>
          </a:p>
          <a:p>
            <a:endParaRPr lang="en-US" dirty="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DCBD23CB-C8D3-2168-28BA-83EDA6DB77E9}"/>
              </a:ext>
            </a:extLst>
          </p:cNvPr>
          <p:cNvSpPr/>
          <p:nvPr/>
        </p:nvSpPr>
        <p:spPr>
          <a:xfrm>
            <a:off x="631901" y="1906414"/>
            <a:ext cx="5217285" cy="4605898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75B8F7A5-C3F7-5775-DD5E-353CC81704BB}"/>
              </a:ext>
            </a:extLst>
          </p:cNvPr>
          <p:cNvSpPr txBox="1"/>
          <p:nvPr/>
        </p:nvSpPr>
        <p:spPr>
          <a:xfrm>
            <a:off x="7183491" y="2067310"/>
            <a:ext cx="2908364" cy="828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82"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720"/>
              </a:spcAft>
              <a:buClrTx/>
              <a:buSzTx/>
              <a:tabLst/>
              <a:defRPr/>
            </a:pPr>
            <a:r>
              <a:rPr lang="en-US" sz="2400" kern="0" dirty="0">
                <a:solidFill>
                  <a:srgbClr val="000000"/>
                </a:solidFill>
                <a:latin typeface="Gill Sans MT" panose="020B0502020104020203" pitchFamily="34" charset="77"/>
                <a:cs typeface="Arial"/>
              </a:rPr>
              <a:t>Decision trees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cs typeface="Arial"/>
            </a:endParaRPr>
          </a:p>
          <a:p>
            <a:endParaRPr lang="en-US" dirty="0"/>
          </a:p>
        </p:txBody>
      </p:sp>
      <p:pic>
        <p:nvPicPr>
          <p:cNvPr id="3074" name="Picture 2" descr="Check mark png images | PNGEgg">
            <a:extLst>
              <a:ext uri="{FF2B5EF4-FFF2-40B4-BE49-F238E27FC236}">
                <a16:creationId xmlns:a16="http://schemas.microsoft.com/office/drawing/2014/main" id="{E5A7606F-A8F4-4B11-94D7-CB5453BE1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1921" y="5718511"/>
            <a:ext cx="1157429" cy="115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01962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875AF-5E2D-F43F-AB88-AA50E740C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049D2-CF28-39D5-3A74-CD6F7D0B9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 Trees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84AC3-799C-D7C2-966A-604D1FC39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pic>
        <p:nvPicPr>
          <p:cNvPr id="8194" name="Picture 2" descr="START, SALT, and RAMP Triage in a Mass Casualty Event - Crisis Medicine">
            <a:extLst>
              <a:ext uri="{FF2B5EF4-FFF2-40B4-BE49-F238E27FC236}">
                <a16:creationId xmlns:a16="http://schemas.microsoft.com/office/drawing/2014/main" id="{BF7CCF36-62D8-E04A-CE5D-528D5F74A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857" y="1116014"/>
            <a:ext cx="6618286" cy="4664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16587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B7385-A281-C284-4C1E-01BABFF2F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32162-7B9A-D612-0DDD-78FD45B0D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 Trees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C8FCC-2919-C9CE-14C5-BEEFDE07D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E1589D-B279-D9F0-5486-4D5DC3C1131A}"/>
              </a:ext>
            </a:extLst>
          </p:cNvPr>
          <p:cNvSpPr txBox="1"/>
          <p:nvPr/>
        </p:nvSpPr>
        <p:spPr>
          <a:xfrm>
            <a:off x="1730829" y="982678"/>
            <a:ext cx="941706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How might you use the same kind of thresholding to classify this data?</a:t>
            </a:r>
          </a:p>
          <a:p>
            <a:endParaRPr lang="en-US" sz="1000" kern="0" dirty="0">
              <a:solidFill>
                <a:srgbClr val="000000"/>
              </a:solidFill>
              <a:latin typeface="Gill Sans MT" panose="020B0502020104020203" pitchFamily="34" charset="77"/>
              <a:ea typeface="ＭＳ Ｐゴシック" charset="0"/>
              <a:cs typeface="Arial"/>
            </a:endParaRPr>
          </a:p>
          <a:p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How will you tell whether the </a:t>
            </a:r>
            <a:r>
              <a:rPr lang="en-US" sz="2400" kern="0" dirty="0">
                <a:solidFill>
                  <a:srgbClr val="000000"/>
                </a:solidFill>
                <a:latin typeface="Gill Sans MT" panose="020B0502020104020203" pitchFamily="34" charset="77"/>
                <a:ea typeface="ＭＳ Ｐゴシック" charset="0"/>
                <a:cs typeface="Arial"/>
              </a:rPr>
              <a:t>classifications are any good?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charset="0"/>
              <a:cs typeface="Arial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842945-0119-7959-80A3-6513A920F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662988"/>
              </p:ext>
            </p:extLst>
          </p:nvPr>
        </p:nvGraphicFramePr>
        <p:xfrm>
          <a:off x="3153394" y="2299214"/>
          <a:ext cx="6092040" cy="378301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18408">
                  <a:extLst>
                    <a:ext uri="{9D8B030D-6E8A-4147-A177-3AD203B41FA5}">
                      <a16:colId xmlns:a16="http://schemas.microsoft.com/office/drawing/2014/main" val="2090865534"/>
                    </a:ext>
                  </a:extLst>
                </a:gridCol>
                <a:gridCol w="1218408">
                  <a:extLst>
                    <a:ext uri="{9D8B030D-6E8A-4147-A177-3AD203B41FA5}">
                      <a16:colId xmlns:a16="http://schemas.microsoft.com/office/drawing/2014/main" val="3945567922"/>
                    </a:ext>
                  </a:extLst>
                </a:gridCol>
                <a:gridCol w="1218408">
                  <a:extLst>
                    <a:ext uri="{9D8B030D-6E8A-4147-A177-3AD203B41FA5}">
                      <a16:colId xmlns:a16="http://schemas.microsoft.com/office/drawing/2014/main" val="2138412548"/>
                    </a:ext>
                  </a:extLst>
                </a:gridCol>
                <a:gridCol w="1218408">
                  <a:extLst>
                    <a:ext uri="{9D8B030D-6E8A-4147-A177-3AD203B41FA5}">
                      <a16:colId xmlns:a16="http://schemas.microsoft.com/office/drawing/2014/main" val="666622539"/>
                    </a:ext>
                  </a:extLst>
                </a:gridCol>
                <a:gridCol w="1218408">
                  <a:extLst>
                    <a:ext uri="{9D8B030D-6E8A-4147-A177-3AD203B41FA5}">
                      <a16:colId xmlns:a16="http://schemas.microsoft.com/office/drawing/2014/main" val="3735449922"/>
                    </a:ext>
                  </a:extLst>
                </a:gridCol>
              </a:tblGrid>
              <a:tr h="54043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Patient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Age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BMI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Heart Rate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Disease status</a:t>
                      </a:r>
                    </a:p>
                  </a:txBody>
                  <a:tcPr marL="71248" marR="71248" marT="35624" marB="35624" anchor="ctr"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18241"/>
                  </a:ext>
                </a:extLst>
              </a:tr>
              <a:tr h="54043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31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20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60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1248" marR="71248" marT="35624" marB="35624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396341"/>
                  </a:ext>
                </a:extLst>
              </a:tr>
              <a:tr h="54043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55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26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75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 marL="71248" marR="71248" marT="35624" marB="35624" anchor="ctr">
                    <a:solidFill>
                      <a:srgbClr val="E878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998865"/>
                  </a:ext>
                </a:extLst>
              </a:tr>
              <a:tr h="54043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70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23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50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 marL="71248" marR="71248" marT="35624" marB="35624" anchor="ctr">
                    <a:solidFill>
                      <a:srgbClr val="E878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450207"/>
                  </a:ext>
                </a:extLst>
              </a:tr>
              <a:tr h="54043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50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35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80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 marL="71248" marR="71248" marT="35624" marB="35624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358764"/>
                  </a:ext>
                </a:extLst>
              </a:tr>
              <a:tr h="54043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35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30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100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</a:p>
                  </a:txBody>
                  <a:tcPr marL="71248" marR="71248" marT="35624" marB="35624" anchor="ctr">
                    <a:solidFill>
                      <a:srgbClr val="E878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364143"/>
                  </a:ext>
                </a:extLst>
              </a:tr>
              <a:tr h="54043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12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24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62</a:t>
                      </a:r>
                    </a:p>
                  </a:txBody>
                  <a:tcPr marL="71248" marR="71248" marT="35624" marB="356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 marL="71248" marR="71248" marT="35624" marB="35624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775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6844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BB4B5-E8FC-1A24-BE4D-316D6EAD5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36030-095C-C22F-B9B8-F7B7C4E24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33B40-0FE9-DC95-B35E-EB06BDC1A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Decision Tree (DT) model is a way of classifying data using a series of choices/criteria. The output follows a very logical “if: then, else: then” structure that makes these models inherently more interpretable. </a:t>
            </a:r>
          </a:p>
          <a:p>
            <a:r>
              <a:rPr lang="en-US" dirty="0"/>
              <a:t>Input values are compared against threshold values to determine the final label of the input. </a:t>
            </a:r>
          </a:p>
          <a:p>
            <a:r>
              <a:rPr lang="en-US" dirty="0"/>
              <a:t>DTs are made up of nodes, branches, and leaves.</a:t>
            </a:r>
          </a:p>
          <a:p>
            <a:r>
              <a:rPr lang="en-US" dirty="0"/>
              <a:t>Each node represents a feature, each branch a choice, and each leaf an outcome. </a:t>
            </a:r>
          </a:p>
          <a:p>
            <a:r>
              <a:rPr lang="en-US" dirty="0"/>
              <a:t>DTs take a top-down approach to data, attempting to group and classify similar observations and to search for optimal criteria to partition dissimilar observations until they reach a particular level of similarity.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F37B8-17D8-C6A7-C3EB-2D0A7E6B3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35201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58DF-ED5B-F52A-4D9E-A8AD54EBD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 Making Using DTs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F24773-C2BE-F2CF-4BB3-7994697BE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98F552-A29D-2D4E-8192-F20670493719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pic>
        <p:nvPicPr>
          <p:cNvPr id="4" name="Picture 2" descr="figure 1">
            <a:extLst>
              <a:ext uri="{FF2B5EF4-FFF2-40B4-BE49-F238E27FC236}">
                <a16:creationId xmlns:a16="http://schemas.microsoft.com/office/drawing/2014/main" id="{60546C0F-7B9B-7B96-4114-BE63E8E27F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7" t="50232"/>
          <a:stretch/>
        </p:blipFill>
        <p:spPr bwMode="auto">
          <a:xfrm>
            <a:off x="736986" y="1563776"/>
            <a:ext cx="5659836" cy="341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F27C18-BD8E-D2A3-9F49-831BB46DC0A7}"/>
              </a:ext>
            </a:extLst>
          </p:cNvPr>
          <p:cNvSpPr txBox="1"/>
          <p:nvPr/>
        </p:nvSpPr>
        <p:spPr>
          <a:xfrm>
            <a:off x="1004932" y="6245193"/>
            <a:ext cx="97642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Source: Valdes, G., Luna, J., Eaton, E. </a:t>
            </a:r>
            <a:r>
              <a:rPr kumimoji="0" lang="en-GB" sz="10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et al.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 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MediBoost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: a Patient Stratification Tool for Interpretable Decision Making in the Era of Precision Medicine. </a:t>
            </a:r>
            <a:r>
              <a:rPr kumimoji="0" lang="en-GB" sz="10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Sci Rep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 6, 37854 (2016). https://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doi.org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/10.1038/srep37854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FCC1B0-4C04-FFB4-628C-4F36FD4D8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134" y="2020232"/>
            <a:ext cx="5232400" cy="327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145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3B93E-1275-BD07-A40A-E16A4D382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5A147-F069-286F-36CE-43A29B6B9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 Making Using DTs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73B55-C674-3329-1241-274757A26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98F552-A29D-2D4E-8192-F20670493719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pic>
        <p:nvPicPr>
          <p:cNvPr id="1026" name="Picture 2" descr="figure 1">
            <a:extLst>
              <a:ext uri="{FF2B5EF4-FFF2-40B4-BE49-F238E27FC236}">
                <a16:creationId xmlns:a16="http://schemas.microsoft.com/office/drawing/2014/main" id="{8571695A-8350-887A-E82E-134DDD1B52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82" b="52121"/>
          <a:stretch/>
        </p:blipFill>
        <p:spPr bwMode="auto">
          <a:xfrm>
            <a:off x="6528804" y="1998954"/>
            <a:ext cx="5277474" cy="328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igure 1">
            <a:extLst>
              <a:ext uri="{FF2B5EF4-FFF2-40B4-BE49-F238E27FC236}">
                <a16:creationId xmlns:a16="http://schemas.microsoft.com/office/drawing/2014/main" id="{D22C16CA-D43F-3D9A-F20B-256CE3167E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7" t="50232"/>
          <a:stretch/>
        </p:blipFill>
        <p:spPr bwMode="auto">
          <a:xfrm>
            <a:off x="736986" y="1563776"/>
            <a:ext cx="5659836" cy="341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1ADCD2-B403-FA31-D746-548EF0197421}"/>
              </a:ext>
            </a:extLst>
          </p:cNvPr>
          <p:cNvSpPr txBox="1"/>
          <p:nvPr/>
        </p:nvSpPr>
        <p:spPr>
          <a:xfrm>
            <a:off x="1004932" y="6245193"/>
            <a:ext cx="97642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Source: Valdes, G., Luna, J., Eaton, E. </a:t>
            </a:r>
            <a:r>
              <a:rPr kumimoji="0" lang="en-GB" sz="10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et al.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 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MediBoost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: a Patient Stratification Tool for Interpretable Decision Making in the Era of Precision Medicine. </a:t>
            </a:r>
            <a:r>
              <a:rPr kumimoji="0" lang="en-GB" sz="10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Sci Rep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 6, 37854 (2016). https://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doi.org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/10.1038/srep37854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18131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D25BE-F22B-7FCE-CC18-BC0A2EC69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DTs in Clinical Applications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FAAD43-80A5-78D9-B883-A37220EAD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98F552-A29D-2D4E-8192-F20670493719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pic>
        <p:nvPicPr>
          <p:cNvPr id="2050" name="Picture 2" descr="figure 4">
            <a:extLst>
              <a:ext uri="{FF2B5EF4-FFF2-40B4-BE49-F238E27FC236}">
                <a16:creationId xmlns:a16="http://schemas.microsoft.com/office/drawing/2014/main" id="{2F91C07D-CEA4-5770-6CE2-E03ABC257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893" y="871579"/>
            <a:ext cx="6029831" cy="5114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E2E252-1F68-6615-85A2-1625DD9C43FB}"/>
              </a:ext>
            </a:extLst>
          </p:cNvPr>
          <p:cNvSpPr txBox="1"/>
          <p:nvPr/>
        </p:nvSpPr>
        <p:spPr>
          <a:xfrm>
            <a:off x="1004932" y="6245193"/>
            <a:ext cx="97642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Source: Valdes, G., Luna, J., Eaton, E. </a:t>
            </a:r>
            <a:r>
              <a:rPr kumimoji="0" lang="en-GB" sz="10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et al.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 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MediBoost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: a Patient Stratification Tool for Interpretable Decision Making in the Era of Precision Medicine. </a:t>
            </a:r>
            <a:r>
              <a:rPr kumimoji="0" lang="en-GB" sz="10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Sci Rep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 6, 37854 (2016). https://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doi.org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/10.1038/srep37854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79262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ED475-55C1-CA06-3D76-F33CC805C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1457D-2EC4-EE2B-90AB-7BE4B4470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are different algorithms that can be used to learn decision tree structure from the data. </a:t>
            </a:r>
          </a:p>
          <a:p>
            <a:r>
              <a:rPr lang="en-GB" dirty="0"/>
              <a:t>In principle, these algorithms start with a root node in the tree structure, explore the features, and create rules that separate the data one step at a time. </a:t>
            </a:r>
          </a:p>
          <a:p>
            <a:r>
              <a:rPr lang="en-GB" dirty="0"/>
              <a:t>One of the basic algorithms is iterative </a:t>
            </a:r>
            <a:r>
              <a:rPr lang="en-GB" dirty="0" err="1"/>
              <a:t>dichotomiser</a:t>
            </a:r>
            <a:r>
              <a:rPr lang="en-GB" dirty="0"/>
              <a:t> 3 (ID3).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FA7B8-EAD7-E531-B7A3-6E8B8773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88129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E22EF-06E6-427C-0C2E-3C965E46E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 PMS Blue">
            <a:extLst>
              <a:ext uri="{FF2B5EF4-FFF2-40B4-BE49-F238E27FC236}">
                <a16:creationId xmlns:a16="http://schemas.microsoft.com/office/drawing/2014/main" id="{201CA23E-C04C-12F6-026A-DF613786A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416" y="286433"/>
            <a:ext cx="2082304" cy="20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670DD25-659F-EE8D-3220-41D96B85EE32}"/>
              </a:ext>
            </a:extLst>
          </p:cNvPr>
          <p:cNvSpPr txBox="1"/>
          <p:nvPr/>
        </p:nvSpPr>
        <p:spPr>
          <a:xfrm>
            <a:off x="762000" y="1268414"/>
            <a:ext cx="10466439" cy="4603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87" marR="0" lvl="0" indent="-342887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720"/>
              </a:spcAft>
              <a:buClrTx/>
              <a:buSzTx/>
              <a:buFont typeface="Verdana" panose="020B0604030504040204" pitchFamily="34" charset="0"/>
              <a:buChar char="−"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The tree chooses the split that produces the greatest reduction in entropy. </a:t>
            </a:r>
          </a:p>
          <a:p>
            <a:pPr marL="342887" marR="0" lvl="0" indent="-342887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720"/>
              </a:spcAft>
              <a:buClrTx/>
              <a:buSzTx/>
              <a:buFont typeface="Verdana" panose="020B0604030504040204" pitchFamily="34" charset="0"/>
              <a:buChar char="−"/>
              <a:tabLst/>
              <a:defRPr/>
            </a:pPr>
            <a:r>
              <a:rPr lang="en-GB" sz="2400" kern="0" dirty="0">
                <a:solidFill>
                  <a:srgbClr val="111111"/>
                </a:solidFill>
                <a:latin typeface="Gill Sans MT" panose="020B0502020104020203" pitchFamily="34" charset="77"/>
                <a:ea typeface="ＭＳ Ｐゴシック" charset="0"/>
                <a:cs typeface="Arial"/>
              </a:rPr>
              <a:t>Entropy captures the impurity in the output with only one label being perfectly pure and a complete mix being maximally impure. </a:t>
            </a:r>
          </a:p>
          <a:p>
            <a:pPr marL="342887" marR="0" lvl="0" indent="-342887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720"/>
              </a:spcAft>
              <a:buClrTx/>
              <a:buSzTx/>
              <a:buFont typeface="Verdana" panose="020B0604030504040204" pitchFamily="34" charset="0"/>
              <a:buChar char="−"/>
              <a:tabLst/>
              <a:defRPr/>
            </a:pPr>
            <a:r>
              <a:rPr lang="en-GB" sz="2400" kern="0" dirty="0">
                <a:solidFill>
                  <a:srgbClr val="111111"/>
                </a:solidFill>
                <a:latin typeface="Gill Sans MT" panose="020B0502020104020203" pitchFamily="34" charset="77"/>
                <a:ea typeface="ＭＳ Ｐゴシック" charset="0"/>
                <a:cs typeface="Arial"/>
              </a:rPr>
              <a:t>I</a:t>
            </a:r>
            <a:r>
              <a:rPr kumimoji="0" lang="en-GB" sz="2400" b="0" i="0" u="none" strike="noStrike" kern="0" cap="none" spc="0" normalizeH="0" baseline="0" noProof="0" dirty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nformation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 gain is the decrease in entropy between one level of a tree and another. </a:t>
            </a:r>
          </a:p>
          <a:p>
            <a:pPr marL="342887" marR="0" lvl="0" indent="-342887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720"/>
              </a:spcAft>
              <a:buClrTx/>
              <a:buSzTx/>
              <a:buFont typeface="Verdana" panose="020B0604030504040204" pitchFamily="34" charset="0"/>
              <a:buChar char="−"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This process is formalised in the ID3 algorithm, which greedily selects the highest information gain feature at each step. </a:t>
            </a:r>
            <a:endParaRPr lang="en-GB" sz="2400" kern="0" dirty="0">
              <a:solidFill>
                <a:srgbClr val="111111"/>
              </a:solidFill>
              <a:latin typeface="Gill Sans MT" panose="020B0502020104020203" pitchFamily="34" charset="77"/>
              <a:ea typeface="ＭＳ Ｐゴシック" charset="0"/>
              <a:cs typeface="Arial"/>
            </a:endParaRPr>
          </a:p>
          <a:p>
            <a:pPr marL="342887" marR="0" lvl="0" indent="-342887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720"/>
              </a:spcAft>
              <a:buClrTx/>
              <a:buSzTx/>
              <a:buFont typeface="Verdana" panose="020B0604030504040204" pitchFamily="34" charset="0"/>
              <a:buChar char="−"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Continue the algorithm by considering only the features that have never been selected before.</a:t>
            </a:r>
          </a:p>
          <a:p>
            <a:pPr marL="342887" marR="0" lvl="0" indent="-342887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720"/>
              </a:spcAft>
              <a:buClrTx/>
              <a:buSzTx/>
              <a:buFont typeface="Verdana" panose="020B0604030504040204" pitchFamily="34" charset="0"/>
              <a:buChar char="−"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Gill Sans MT" panose="020B0502020104020203" pitchFamily="34" charset="77"/>
              <a:ea typeface="ＭＳ Ｐゴシック" charset="0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886D-1700-C6B8-13F6-315B8C32A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26987"/>
            <a:ext cx="10972800" cy="1143001"/>
          </a:xfrm>
        </p:spPr>
        <p:txBody>
          <a:bodyPr/>
          <a:lstStyle/>
          <a:p>
            <a:r>
              <a:rPr lang="en-GB" dirty="0"/>
              <a:t>The ID3 algorithms</a:t>
            </a:r>
          </a:p>
        </p:txBody>
      </p:sp>
    </p:spTree>
    <p:extLst>
      <p:ext uri="{BB962C8B-B14F-4D97-AF65-F5344CB8AC3E}">
        <p14:creationId xmlns:p14="http://schemas.microsoft.com/office/powerpoint/2010/main" val="6684773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Entropy Calculation for an Insurance Dataset — to Find Root Node | by Dr.  Alvin Ang | Dev Genius">
            <a:extLst>
              <a:ext uri="{FF2B5EF4-FFF2-40B4-BE49-F238E27FC236}">
                <a16:creationId xmlns:a16="http://schemas.microsoft.com/office/drawing/2014/main" id="{656E1C4F-1CF5-73CC-2D11-C7F3594BF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01" y="2610059"/>
            <a:ext cx="4663678" cy="1826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03005-2424-DDB8-0901-5325E1BB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ID3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30037-6634-5AF2-6232-B1B024930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1439"/>
            <a:ext cx="10972800" cy="1637973"/>
          </a:xfrm>
        </p:spPr>
        <p:txBody>
          <a:bodyPr/>
          <a:lstStyle/>
          <a:p>
            <a:r>
              <a:rPr lang="en-GB" i="0" u="none" strike="noStrike" dirty="0">
                <a:solidFill>
                  <a:srgbClr val="111111"/>
                </a:solidFill>
                <a:effectLst/>
              </a:rPr>
              <a:t>Entropy:</a:t>
            </a:r>
            <a:endParaRPr lang="en-GB" dirty="0">
              <a:solidFill>
                <a:srgbClr val="111111"/>
              </a:solidFill>
            </a:endParaRPr>
          </a:p>
          <a:p>
            <a:pPr lvl="1"/>
            <a:r>
              <a:rPr lang="en-GB" i="0" u="none" strike="noStrike" dirty="0">
                <a:solidFill>
                  <a:srgbClr val="111111"/>
                </a:solidFill>
                <a:effectLst/>
              </a:rPr>
              <a:t>A pure node (all one class) has entropy of 0.</a:t>
            </a:r>
          </a:p>
          <a:p>
            <a:pPr lvl="1"/>
            <a:r>
              <a:rPr lang="en-GB" dirty="0">
                <a:solidFill>
                  <a:srgbClr val="111111"/>
                </a:solidFill>
              </a:rPr>
              <a:t>A </a:t>
            </a:r>
            <a:r>
              <a:rPr lang="en-GB" i="0" u="none" strike="noStrike" dirty="0">
                <a:solidFill>
                  <a:srgbClr val="111111"/>
                </a:solidFill>
                <a:effectLst/>
              </a:rPr>
              <a:t>perfectly mixed node has maximum entropy.</a:t>
            </a:r>
            <a:endParaRPr lang="en-GB" dirty="0">
              <a:solidFill>
                <a:srgbClr val="111111"/>
              </a:solidFill>
            </a:endParaRPr>
          </a:p>
          <a:p>
            <a:pPr marL="457182" lvl="1" indent="0">
              <a:buNone/>
            </a:pPr>
            <a:endParaRPr lang="en-GB" i="0" u="none" strike="noStrike" dirty="0">
              <a:solidFill>
                <a:srgbClr val="111111"/>
              </a:solidFill>
              <a:effectLst/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E5553-F700-0B49-C0CC-64F366315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97B6B33-BD58-AAB3-D83C-D40A08A5F30F}"/>
              </a:ext>
            </a:extLst>
          </p:cNvPr>
          <p:cNvGrpSpPr/>
          <p:nvPr/>
        </p:nvGrpSpPr>
        <p:grpSpPr>
          <a:xfrm>
            <a:off x="793377" y="4693022"/>
            <a:ext cx="3475806" cy="510989"/>
            <a:chOff x="1492624" y="4706469"/>
            <a:chExt cx="3475806" cy="510989"/>
          </a:xfrm>
        </p:grpSpPr>
        <p:pic>
          <p:nvPicPr>
            <p:cNvPr id="8" name="Picture 2" descr="Entropy Calculation for an Insurance Dataset — to Find Root Node | by Dr.  Alvin Ang | Dev Genius">
              <a:extLst>
                <a:ext uri="{FF2B5EF4-FFF2-40B4-BE49-F238E27FC236}">
                  <a16:creationId xmlns:a16="http://schemas.microsoft.com/office/drawing/2014/main" id="{AAEC02CC-497D-F680-BD6F-A3B79DC815D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535" t="39931" r="36662" b="32086"/>
            <a:stretch>
              <a:fillRect/>
            </a:stretch>
          </p:blipFill>
          <p:spPr bwMode="auto">
            <a:xfrm>
              <a:off x="1492624" y="4706469"/>
              <a:ext cx="457200" cy="5109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6C87383-B441-F353-9C55-3A6B1765F315}"/>
                </a:ext>
              </a:extLst>
            </p:cNvPr>
            <p:cNvSpPr txBox="1"/>
            <p:nvPr/>
          </p:nvSpPr>
          <p:spPr>
            <a:xfrm>
              <a:off x="1600200" y="4790454"/>
              <a:ext cx="33682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182" marR="0" lvl="1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ts val="720"/>
                </a:spcAft>
                <a:buClrTx/>
                <a:buSzTx/>
                <a:tabLst/>
                <a:defRPr/>
              </a:pPr>
              <a:r>
                <a:rPr lang="en-GB" sz="2000" kern="0" dirty="0">
                  <a:solidFill>
                    <a:srgbClr val="111111"/>
                  </a:solidFill>
                  <a:latin typeface="Gill Sans MT" panose="020B0502020104020203" pitchFamily="34" charset="77"/>
                  <a:cs typeface="Arial"/>
                </a:rPr>
                <a:t>= probability of outcome </a:t>
              </a:r>
              <a:r>
                <a:rPr lang="en-GB" sz="2000" i="1" kern="0" dirty="0" err="1">
                  <a:solidFill>
                    <a:srgbClr val="111111"/>
                  </a:solidFill>
                  <a:latin typeface="Gill Sans MT" panose="020B0502020104020203" pitchFamily="34" charset="77"/>
                  <a:cs typeface="Arial"/>
                </a:rPr>
                <a:t>i</a:t>
              </a:r>
              <a:endParaRPr lang="en-US" dirty="0"/>
            </a:p>
          </p:txBody>
        </p:sp>
      </p:grp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EE599F3-B132-DA2B-3CD7-D88947AEA33D}"/>
              </a:ext>
            </a:extLst>
          </p:cNvPr>
          <p:cNvSpPr/>
          <p:nvPr/>
        </p:nvSpPr>
        <p:spPr>
          <a:xfrm>
            <a:off x="8368284" y="2839802"/>
            <a:ext cx="1427835" cy="655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Age &gt; 50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908FDFE-2F00-814E-2CF9-01F983F59133}"/>
              </a:ext>
            </a:extLst>
          </p:cNvPr>
          <p:cNvSpPr/>
          <p:nvPr/>
        </p:nvSpPr>
        <p:spPr>
          <a:xfrm>
            <a:off x="6096000" y="4050156"/>
            <a:ext cx="2312795" cy="7720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1A9AB0-E240-0D8C-5AA6-E0DF43559F06}"/>
              </a:ext>
            </a:extLst>
          </p:cNvPr>
          <p:cNvSpPr txBox="1"/>
          <p:nvPr/>
        </p:nvSpPr>
        <p:spPr>
          <a:xfrm>
            <a:off x="7564108" y="443204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kern="0" dirty="0">
                <a:solidFill>
                  <a:srgbClr val="111111"/>
                </a:solidFill>
                <a:latin typeface="Gill Sans MT" panose="020B0502020104020203" pitchFamily="34" charset="77"/>
                <a:ea typeface="ＭＳ Ｐゴシック" charset="0"/>
                <a:cs typeface="Arial"/>
              </a:rPr>
              <a:t>0</a:t>
            </a:r>
            <a:endParaRPr lang="en-US" sz="1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91DC26-489F-7AD1-A63C-58532A4082EA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flipH="1">
            <a:off x="7252398" y="3495584"/>
            <a:ext cx="1829804" cy="5545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2B7B650-55E2-1875-48DB-14A6C3BA7B72}"/>
              </a:ext>
            </a:extLst>
          </p:cNvPr>
          <p:cNvCxnSpPr>
            <a:cxnSpLocks/>
            <a:stCxn id="16" idx="2"/>
            <a:endCxn id="23" idx="0"/>
          </p:cNvCxnSpPr>
          <p:nvPr/>
        </p:nvCxnSpPr>
        <p:spPr>
          <a:xfrm>
            <a:off x="9082202" y="3495584"/>
            <a:ext cx="1741725" cy="5545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ECA497D-3319-94FC-C193-14AE02830BF8}"/>
              </a:ext>
            </a:extLst>
          </p:cNvPr>
          <p:cNvSpPr txBox="1"/>
          <p:nvPr/>
        </p:nvSpPr>
        <p:spPr>
          <a:xfrm>
            <a:off x="6297666" y="4093047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GB" b="0" i="0" u="sng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Positive   Negative</a:t>
            </a:r>
            <a:endParaRPr lang="en-US" sz="1400" u="sng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CDC5CDF-5194-E053-81F3-148A6BFD3A5B}"/>
              </a:ext>
            </a:extLst>
          </p:cNvPr>
          <p:cNvSpPr/>
          <p:nvPr/>
        </p:nvSpPr>
        <p:spPr>
          <a:xfrm>
            <a:off x="9667529" y="4050156"/>
            <a:ext cx="2312795" cy="7720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4EBB90-7B2C-77FA-CC1A-D3FCA63E1FB9}"/>
              </a:ext>
            </a:extLst>
          </p:cNvPr>
          <p:cNvSpPr txBox="1"/>
          <p:nvPr/>
        </p:nvSpPr>
        <p:spPr>
          <a:xfrm>
            <a:off x="10242616" y="44732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kern="0" dirty="0">
                <a:solidFill>
                  <a:srgbClr val="111111"/>
                </a:solidFill>
                <a:latin typeface="Gill Sans MT" panose="020B0502020104020203" pitchFamily="34" charset="77"/>
                <a:ea typeface="ＭＳ Ｐゴシック" charset="0"/>
                <a:cs typeface="Arial"/>
              </a:rPr>
              <a:t>0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843479-A22C-8FDB-3D39-519CFD41386D}"/>
              </a:ext>
            </a:extLst>
          </p:cNvPr>
          <p:cNvSpPr txBox="1"/>
          <p:nvPr/>
        </p:nvSpPr>
        <p:spPr>
          <a:xfrm>
            <a:off x="11183706" y="44732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kern="0" dirty="0">
                <a:solidFill>
                  <a:srgbClr val="111111"/>
                </a:solidFill>
                <a:latin typeface="Gill Sans MT" panose="020B0502020104020203" pitchFamily="34" charset="77"/>
                <a:ea typeface="ＭＳ Ｐゴシック" charset="0"/>
                <a:cs typeface="Arial"/>
              </a:rPr>
              <a:t>5</a:t>
            </a:r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8C1E4F-3E33-2A64-128C-0E6E70455797}"/>
              </a:ext>
            </a:extLst>
          </p:cNvPr>
          <p:cNvSpPr txBox="1"/>
          <p:nvPr/>
        </p:nvSpPr>
        <p:spPr>
          <a:xfrm>
            <a:off x="9881445" y="4103900"/>
            <a:ext cx="1912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GB" b="0" i="0" u="sng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Positive   Negative</a:t>
            </a:r>
            <a:endParaRPr lang="en-US" sz="1400" u="sng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DF465D-9365-3AC6-6A32-3836C80DF6FB}"/>
              </a:ext>
            </a:extLst>
          </p:cNvPr>
          <p:cNvSpPr txBox="1"/>
          <p:nvPr/>
        </p:nvSpPr>
        <p:spPr>
          <a:xfrm>
            <a:off x="7246630" y="3450914"/>
            <a:ext cx="492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cs typeface="Arial"/>
              </a:rPr>
              <a:t>Yes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F58097-8636-F0A9-4A89-CE842B974BC8}"/>
              </a:ext>
            </a:extLst>
          </p:cNvPr>
          <p:cNvSpPr txBox="1"/>
          <p:nvPr/>
        </p:nvSpPr>
        <p:spPr>
          <a:xfrm>
            <a:off x="10289248" y="341911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cs typeface="Arial"/>
              </a:rPr>
              <a:t>No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5B7FFE-A284-3C38-46B9-BA8DD964D132}"/>
              </a:ext>
            </a:extLst>
          </p:cNvPr>
          <p:cNvSpPr txBox="1"/>
          <p:nvPr/>
        </p:nvSpPr>
        <p:spPr>
          <a:xfrm>
            <a:off x="8390429" y="23742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kern="0" dirty="0">
                <a:solidFill>
                  <a:srgbClr val="111111"/>
                </a:solidFill>
                <a:latin typeface="Gill Sans MT" panose="020B0502020104020203" pitchFamily="34" charset="77"/>
                <a:ea typeface="ＭＳ Ｐゴシック" charset="0"/>
                <a:cs typeface="Arial"/>
              </a:rPr>
              <a:t>9</a:t>
            </a:r>
            <a:endParaRPr 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293F22-6A48-52D5-12A6-70EE9A95ADF4}"/>
              </a:ext>
            </a:extLst>
          </p:cNvPr>
          <p:cNvSpPr txBox="1"/>
          <p:nvPr/>
        </p:nvSpPr>
        <p:spPr>
          <a:xfrm>
            <a:off x="9561042" y="237971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kern="0" dirty="0">
                <a:solidFill>
                  <a:srgbClr val="111111"/>
                </a:solidFill>
                <a:latin typeface="Gill Sans MT" panose="020B0502020104020203" pitchFamily="34" charset="77"/>
                <a:ea typeface="ＭＳ Ｐゴシック" charset="0"/>
                <a:cs typeface="Arial"/>
              </a:rPr>
              <a:t>5</a:t>
            </a:r>
            <a:endParaRPr 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3440C5-C967-5E3F-DBDF-2DF0DECFD59D}"/>
              </a:ext>
            </a:extLst>
          </p:cNvPr>
          <p:cNvSpPr txBox="1"/>
          <p:nvPr/>
        </p:nvSpPr>
        <p:spPr>
          <a:xfrm>
            <a:off x="8527402" y="1564132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kern="0" dirty="0">
                <a:solidFill>
                  <a:srgbClr val="111111"/>
                </a:solidFill>
                <a:latin typeface="Gill Sans MT" panose="020B0502020104020203" pitchFamily="34" charset="77"/>
                <a:ea typeface="ＭＳ Ｐゴシック" charset="0"/>
                <a:cs typeface="Arial"/>
              </a:rPr>
              <a:t>14 people</a:t>
            </a:r>
            <a:endParaRPr 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893ED7-5C73-7287-D27E-4A58A08724F2}"/>
              </a:ext>
            </a:extLst>
          </p:cNvPr>
          <p:cNvSpPr txBox="1"/>
          <p:nvPr/>
        </p:nvSpPr>
        <p:spPr>
          <a:xfrm>
            <a:off x="8146345" y="1987208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GB" b="0" i="0" u="sng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Positive   Negative</a:t>
            </a:r>
            <a:endParaRPr lang="en-US" sz="1400" u="sng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7582A9-DDCE-3A20-B510-DFB70DB2F397}"/>
              </a:ext>
            </a:extLst>
          </p:cNvPr>
          <p:cNvSpPr txBox="1"/>
          <p:nvPr/>
        </p:nvSpPr>
        <p:spPr>
          <a:xfrm>
            <a:off x="6564952" y="44481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kern="0" dirty="0">
                <a:solidFill>
                  <a:srgbClr val="111111"/>
                </a:solidFill>
                <a:latin typeface="Gill Sans MT" panose="020B0502020104020203" pitchFamily="34" charset="77"/>
                <a:ea typeface="ＭＳ Ｐゴシック" charset="0"/>
                <a:cs typeface="Arial"/>
              </a:rPr>
              <a:t>9</a:t>
            </a:r>
            <a:endParaRPr lang="en-US" sz="1400" dirty="0"/>
          </a:p>
        </p:txBody>
      </p:sp>
      <p:pic>
        <p:nvPicPr>
          <p:cNvPr id="40" name="Picture 39" descr="A black background with numbers&#10;&#10;AI-generated content may be incorrect.">
            <a:extLst>
              <a:ext uri="{FF2B5EF4-FFF2-40B4-BE49-F238E27FC236}">
                <a16:creationId xmlns:a16="http://schemas.microsoft.com/office/drawing/2014/main" id="{2502538B-1B28-C4DC-74FA-5A7B0B9A05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080" y="4940184"/>
            <a:ext cx="2625908" cy="941431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9500674-3C58-B804-A0BB-A9A5E80113CA}"/>
              </a:ext>
            </a:extLst>
          </p:cNvPr>
          <p:cNvSpPr txBox="1"/>
          <p:nvPr/>
        </p:nvSpPr>
        <p:spPr>
          <a:xfrm>
            <a:off x="8236350" y="5237738"/>
            <a:ext cx="9829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= 0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356447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AC9E-6E37-1CA1-2314-895B8A629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Entropy and Information Gain*</a:t>
            </a:r>
          </a:p>
        </p:txBody>
      </p:sp>
      <p:pic>
        <p:nvPicPr>
          <p:cNvPr id="5" name="Picture 4" descr="Logo PMS Blue">
            <a:extLst>
              <a:ext uri="{FF2B5EF4-FFF2-40B4-BE49-F238E27FC236}">
                <a16:creationId xmlns:a16="http://schemas.microsoft.com/office/drawing/2014/main" id="{47BDC5C4-691A-2975-D766-AAC1C6EB6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416" y="286433"/>
            <a:ext cx="2082304" cy="20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E82E9ED-6E19-0396-F7B1-E7D14AF2D52F}"/>
              </a:ext>
            </a:extLst>
          </p:cNvPr>
          <p:cNvSpPr/>
          <p:nvPr/>
        </p:nvSpPr>
        <p:spPr>
          <a:xfrm>
            <a:off x="2680218" y="2418041"/>
            <a:ext cx="1427835" cy="655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Age &gt; 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C7FB9C-33F4-AC6E-A3C2-AED2A6C32BFC}"/>
              </a:ext>
            </a:extLst>
          </p:cNvPr>
          <p:cNvSpPr txBox="1"/>
          <p:nvPr/>
        </p:nvSpPr>
        <p:spPr>
          <a:xfrm>
            <a:off x="2722684" y="182065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kern="0" dirty="0">
                <a:solidFill>
                  <a:srgbClr val="111111"/>
                </a:solidFill>
                <a:latin typeface="Gill Sans MT" panose="020B0502020104020203" pitchFamily="34" charset="77"/>
                <a:ea typeface="ＭＳ Ｐゴシック" charset="0"/>
                <a:cs typeface="Arial"/>
              </a:rPr>
              <a:t>9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F8A8FD-8387-C063-022B-07B0A842485A}"/>
              </a:ext>
            </a:extLst>
          </p:cNvPr>
          <p:cNvSpPr txBox="1"/>
          <p:nvPr/>
        </p:nvSpPr>
        <p:spPr>
          <a:xfrm>
            <a:off x="3893297" y="182614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kern="0" dirty="0">
                <a:solidFill>
                  <a:srgbClr val="111111"/>
                </a:solidFill>
                <a:latin typeface="Gill Sans MT" panose="020B0502020104020203" pitchFamily="34" charset="77"/>
                <a:ea typeface="ＭＳ Ｐゴシック" charset="0"/>
                <a:cs typeface="Arial"/>
              </a:rPr>
              <a:t>5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F25AE3-BE7A-E5FE-2F71-C837BE213303}"/>
              </a:ext>
            </a:extLst>
          </p:cNvPr>
          <p:cNvSpPr txBox="1"/>
          <p:nvPr/>
        </p:nvSpPr>
        <p:spPr>
          <a:xfrm>
            <a:off x="2859657" y="1010558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kern="0" dirty="0">
                <a:solidFill>
                  <a:srgbClr val="111111"/>
                </a:solidFill>
                <a:latin typeface="Gill Sans MT" panose="020B0502020104020203" pitchFamily="34" charset="77"/>
                <a:ea typeface="ＭＳ Ｐゴシック" charset="0"/>
                <a:cs typeface="Arial"/>
              </a:rPr>
              <a:t>14 people</a:t>
            </a:r>
            <a:endParaRPr lang="en-US" sz="140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4ED404A-1B38-E94B-2FFD-BE7F0A32BC3A}"/>
              </a:ext>
            </a:extLst>
          </p:cNvPr>
          <p:cNvSpPr/>
          <p:nvPr/>
        </p:nvSpPr>
        <p:spPr>
          <a:xfrm>
            <a:off x="407934" y="3628395"/>
            <a:ext cx="2312795" cy="7720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B80966-43A5-119D-18BF-0D52CC38BC9F}"/>
              </a:ext>
            </a:extLst>
          </p:cNvPr>
          <p:cNvSpPr txBox="1"/>
          <p:nvPr/>
        </p:nvSpPr>
        <p:spPr>
          <a:xfrm>
            <a:off x="892350" y="400738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kern="0" dirty="0">
                <a:solidFill>
                  <a:srgbClr val="111111"/>
                </a:solidFill>
                <a:latin typeface="Gill Sans MT" panose="020B0502020104020203" pitchFamily="34" charset="77"/>
                <a:ea typeface="ＭＳ Ｐゴシック" charset="0"/>
                <a:cs typeface="Arial"/>
              </a:rPr>
              <a:t>6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541361-D5E9-2FD5-C0C1-008FB4A850DA}"/>
              </a:ext>
            </a:extLst>
          </p:cNvPr>
          <p:cNvSpPr txBox="1"/>
          <p:nvPr/>
        </p:nvSpPr>
        <p:spPr>
          <a:xfrm>
            <a:off x="1821799" y="403401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kern="0" dirty="0">
                <a:solidFill>
                  <a:srgbClr val="111111"/>
                </a:solidFill>
                <a:latin typeface="Gill Sans MT" panose="020B0502020104020203" pitchFamily="34" charset="77"/>
                <a:ea typeface="ＭＳ Ｐゴシック" charset="0"/>
                <a:cs typeface="Arial"/>
              </a:rPr>
              <a:t>2</a:t>
            </a:r>
            <a:endParaRPr lang="en-US" sz="1400" dirty="0"/>
          </a:p>
        </p:txBody>
      </p:sp>
      <p:pic>
        <p:nvPicPr>
          <p:cNvPr id="5122" name="Picture 2" descr="Entropy Calculation for an Insurance Dataset — to Find Root Node | by Dr.  Alvin Ang | Dev Genius">
            <a:extLst>
              <a:ext uri="{FF2B5EF4-FFF2-40B4-BE49-F238E27FC236}">
                <a16:creationId xmlns:a16="http://schemas.microsoft.com/office/drawing/2014/main" id="{1757AD62-7A95-6ED8-609B-8BFE60698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82" y="945941"/>
            <a:ext cx="2703441" cy="1058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3315854-EC4D-ECD0-45CB-14EBDDB1FFA9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 flipH="1">
            <a:off x="1564332" y="3073823"/>
            <a:ext cx="1829804" cy="5545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E9A1A33-4C9F-40B8-8C65-820EC9E0CEAD}"/>
              </a:ext>
            </a:extLst>
          </p:cNvPr>
          <p:cNvCxnSpPr>
            <a:cxnSpLocks/>
            <a:stCxn id="3" idx="2"/>
            <a:endCxn id="53" idx="0"/>
          </p:cNvCxnSpPr>
          <p:nvPr/>
        </p:nvCxnSpPr>
        <p:spPr>
          <a:xfrm>
            <a:off x="3394136" y="3073823"/>
            <a:ext cx="1741725" cy="5545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9190EF7-D8C2-23E1-2C87-5A11F0353B69}"/>
              </a:ext>
            </a:extLst>
          </p:cNvPr>
          <p:cNvSpPr txBox="1"/>
          <p:nvPr/>
        </p:nvSpPr>
        <p:spPr>
          <a:xfrm>
            <a:off x="8038397" y="2503458"/>
            <a:ext cx="96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=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00FFFF"/>
                </a:highlight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0.94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 </a:t>
            </a:r>
            <a:endParaRPr lang="en-US" sz="1600" dirty="0"/>
          </a:p>
        </p:txBody>
      </p:sp>
      <p:pic>
        <p:nvPicPr>
          <p:cNvPr id="25" name="Picture 24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B3687CA9-7DB4-B59F-7183-31553AF22E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27" t="10356" r="30426" b="79282"/>
          <a:stretch>
            <a:fillRect/>
          </a:stretch>
        </p:blipFill>
        <p:spPr>
          <a:xfrm>
            <a:off x="4636410" y="2281078"/>
            <a:ext cx="3357096" cy="78597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FB70ACA-14D1-F7E8-A4F2-85C8AB71BB0B}"/>
              </a:ext>
            </a:extLst>
          </p:cNvPr>
          <p:cNvSpPr txBox="1"/>
          <p:nvPr/>
        </p:nvSpPr>
        <p:spPr>
          <a:xfrm>
            <a:off x="5950963" y="4702534"/>
            <a:ext cx="603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= 1 </a:t>
            </a:r>
            <a:endParaRPr lang="en-US" sz="1600" dirty="0"/>
          </a:p>
        </p:txBody>
      </p:sp>
      <p:pic>
        <p:nvPicPr>
          <p:cNvPr id="30" name="Picture 29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84DBBF7F-A08E-F1DF-05AB-142876F877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11" t="60375" r="47302" b="30824"/>
          <a:stretch>
            <a:fillRect/>
          </a:stretch>
        </p:blipFill>
        <p:spPr>
          <a:xfrm>
            <a:off x="254334" y="4621675"/>
            <a:ext cx="1923588" cy="689367"/>
          </a:xfrm>
          <a:prstGeom prst="rect">
            <a:avLst/>
          </a:prstGeom>
        </p:spPr>
      </p:pic>
      <p:pic>
        <p:nvPicPr>
          <p:cNvPr id="31" name="Picture 30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EE2EE89A-C00E-31D2-0FDF-375C522B9A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64" t="60375" r="17190" b="30824"/>
          <a:stretch>
            <a:fillRect/>
          </a:stretch>
        </p:blipFill>
        <p:spPr>
          <a:xfrm>
            <a:off x="3969632" y="4546168"/>
            <a:ext cx="1920123" cy="68936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5E7D263-F03C-134F-A248-96FFF72C6CE3}"/>
              </a:ext>
            </a:extLst>
          </p:cNvPr>
          <p:cNvSpPr txBox="1"/>
          <p:nvPr/>
        </p:nvSpPr>
        <p:spPr>
          <a:xfrm>
            <a:off x="2260566" y="4808959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= 0.811 </a:t>
            </a:r>
            <a:endParaRPr lang="en-US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36D33B-CE4E-FF2C-34CE-47410E4D0CFA}"/>
              </a:ext>
            </a:extLst>
          </p:cNvPr>
          <p:cNvSpPr txBox="1"/>
          <p:nvPr/>
        </p:nvSpPr>
        <p:spPr>
          <a:xfrm>
            <a:off x="2478596" y="1433634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GB" b="0" i="0" u="sng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Positive   Negative</a:t>
            </a:r>
            <a:endParaRPr lang="en-US" sz="1400" u="sng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8B677A-35B7-D5E1-4D7A-1D0ED1B7C5FE}"/>
              </a:ext>
            </a:extLst>
          </p:cNvPr>
          <p:cNvSpPr txBox="1"/>
          <p:nvPr/>
        </p:nvSpPr>
        <p:spPr>
          <a:xfrm>
            <a:off x="609600" y="3671286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GB" b="0" i="0" u="sng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Positive   Negative</a:t>
            </a:r>
            <a:endParaRPr lang="en-US" sz="1400" u="sng" dirty="0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80DBDC81-7D0A-B060-A7E9-4B28E37CE3EA}"/>
              </a:ext>
            </a:extLst>
          </p:cNvPr>
          <p:cNvSpPr/>
          <p:nvPr/>
        </p:nvSpPr>
        <p:spPr>
          <a:xfrm>
            <a:off x="3979463" y="3628395"/>
            <a:ext cx="2312795" cy="7720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62716F-13CB-815E-189E-6B9CDB101606}"/>
              </a:ext>
            </a:extLst>
          </p:cNvPr>
          <p:cNvSpPr txBox="1"/>
          <p:nvPr/>
        </p:nvSpPr>
        <p:spPr>
          <a:xfrm>
            <a:off x="4567416" y="40171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kern="0" dirty="0">
                <a:solidFill>
                  <a:srgbClr val="111111"/>
                </a:solidFill>
                <a:latin typeface="Gill Sans MT" panose="020B0502020104020203" pitchFamily="34" charset="77"/>
                <a:ea typeface="ＭＳ Ｐゴシック" charset="0"/>
                <a:cs typeface="Arial"/>
              </a:rPr>
              <a:t>3</a:t>
            </a:r>
            <a:endParaRPr 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26A35E5-4228-3820-69EB-043D12329A6C}"/>
              </a:ext>
            </a:extLst>
          </p:cNvPr>
          <p:cNvSpPr txBox="1"/>
          <p:nvPr/>
        </p:nvSpPr>
        <p:spPr>
          <a:xfrm>
            <a:off x="5466346" y="403401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kern="0" dirty="0">
                <a:solidFill>
                  <a:srgbClr val="111111"/>
                </a:solidFill>
                <a:latin typeface="Gill Sans MT" panose="020B0502020104020203" pitchFamily="34" charset="77"/>
                <a:ea typeface="ＭＳ Ｐゴシック" charset="0"/>
                <a:cs typeface="Arial"/>
              </a:rPr>
              <a:t>3</a:t>
            </a:r>
            <a:endParaRPr lang="en-US" sz="1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294677-A156-E9A8-9BF0-8F7A3B4EF9FE}"/>
              </a:ext>
            </a:extLst>
          </p:cNvPr>
          <p:cNvSpPr txBox="1"/>
          <p:nvPr/>
        </p:nvSpPr>
        <p:spPr>
          <a:xfrm>
            <a:off x="4193379" y="3682139"/>
            <a:ext cx="1912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GB" b="0" i="0" u="sng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Positive   Negative</a:t>
            </a:r>
            <a:endParaRPr lang="en-US" sz="1400" u="sng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1EB96B3-43EB-8BA9-6E8A-E21A64B29DE9}"/>
              </a:ext>
            </a:extLst>
          </p:cNvPr>
          <p:cNvSpPr txBox="1"/>
          <p:nvPr/>
        </p:nvSpPr>
        <p:spPr>
          <a:xfrm>
            <a:off x="1558564" y="3029153"/>
            <a:ext cx="492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cs typeface="Arial"/>
              </a:rPr>
              <a:t>Yes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2936E0-E20D-E3A7-15D1-602ABA70720B}"/>
              </a:ext>
            </a:extLst>
          </p:cNvPr>
          <p:cNvSpPr txBox="1"/>
          <p:nvPr/>
        </p:nvSpPr>
        <p:spPr>
          <a:xfrm>
            <a:off x="4601182" y="2997352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cs typeface="Arial"/>
              </a:rPr>
              <a:t>No</a:t>
            </a:r>
          </a:p>
        </p:txBody>
      </p:sp>
      <p:sp>
        <p:nvSpPr>
          <p:cNvPr id="5124" name="TextBox 5123">
            <a:extLst>
              <a:ext uri="{FF2B5EF4-FFF2-40B4-BE49-F238E27FC236}">
                <a16:creationId xmlns:a16="http://schemas.microsoft.com/office/drawing/2014/main" id="{C9E4A9D0-5A77-DE1A-1743-54E713C222FC}"/>
              </a:ext>
            </a:extLst>
          </p:cNvPr>
          <p:cNvSpPr txBox="1"/>
          <p:nvPr/>
        </p:nvSpPr>
        <p:spPr>
          <a:xfrm>
            <a:off x="8038397" y="4773683"/>
            <a:ext cx="38395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kern="0" dirty="0">
                <a:solidFill>
                  <a:srgbClr val="111111"/>
                </a:solidFill>
                <a:latin typeface="Gill Sans MT" panose="020B0502020104020203" pitchFamily="34" charset="77"/>
                <a:ea typeface="ＭＳ Ｐゴシック" charset="0"/>
                <a:cs typeface="Arial"/>
              </a:rPr>
              <a:t>(8/14 *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0.811) + (6/14 * 1) =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0.89</a:t>
            </a:r>
            <a:endParaRPr lang="en-US" sz="1600" b="1" dirty="0">
              <a:highlight>
                <a:srgbClr val="FFFF00"/>
              </a:highlight>
            </a:endParaRPr>
          </a:p>
        </p:txBody>
      </p:sp>
      <p:sp>
        <p:nvSpPr>
          <p:cNvPr id="5125" name="Right Arrow 5124">
            <a:extLst>
              <a:ext uri="{FF2B5EF4-FFF2-40B4-BE49-F238E27FC236}">
                <a16:creationId xmlns:a16="http://schemas.microsoft.com/office/drawing/2014/main" id="{5CA28C0C-E541-071F-3134-DFBB4BCFBECB}"/>
              </a:ext>
            </a:extLst>
          </p:cNvPr>
          <p:cNvSpPr/>
          <p:nvPr/>
        </p:nvSpPr>
        <p:spPr>
          <a:xfrm>
            <a:off x="6687328" y="4808959"/>
            <a:ext cx="1306177" cy="2936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6" name="TextBox 5125">
            <a:extLst>
              <a:ext uri="{FF2B5EF4-FFF2-40B4-BE49-F238E27FC236}">
                <a16:creationId xmlns:a16="http://schemas.microsoft.com/office/drawing/2014/main" id="{3317E01B-CB9F-D8B2-9402-6A30CAC3C189}"/>
              </a:ext>
            </a:extLst>
          </p:cNvPr>
          <p:cNvSpPr txBox="1"/>
          <p:nvPr/>
        </p:nvSpPr>
        <p:spPr>
          <a:xfrm>
            <a:off x="2710630" y="5963304"/>
            <a:ext cx="6358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GB" sz="2400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Entropy of top layer – </a:t>
            </a:r>
          </a:p>
        </p:txBody>
      </p:sp>
      <p:sp>
        <p:nvSpPr>
          <p:cNvPr id="5130" name="TextBox 5129">
            <a:extLst>
              <a:ext uri="{FF2B5EF4-FFF2-40B4-BE49-F238E27FC236}">
                <a16:creationId xmlns:a16="http://schemas.microsoft.com/office/drawing/2014/main" id="{5F4083D2-2E65-0DE4-118D-3ACD0B9233AA}"/>
              </a:ext>
            </a:extLst>
          </p:cNvPr>
          <p:cNvSpPr txBox="1"/>
          <p:nvPr/>
        </p:nvSpPr>
        <p:spPr>
          <a:xfrm>
            <a:off x="6678225" y="4047555"/>
            <a:ext cx="2170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Get weighted average</a:t>
            </a:r>
            <a:endParaRPr lang="en-US" sz="2000" dirty="0"/>
          </a:p>
        </p:txBody>
      </p:sp>
      <p:sp>
        <p:nvSpPr>
          <p:cNvPr id="5131" name="TextBox 5130">
            <a:extLst>
              <a:ext uri="{FF2B5EF4-FFF2-40B4-BE49-F238E27FC236}">
                <a16:creationId xmlns:a16="http://schemas.microsoft.com/office/drawing/2014/main" id="{89A9CF4C-F0D3-DDF0-ED60-6EF1B8C03A41}"/>
              </a:ext>
            </a:extLst>
          </p:cNvPr>
          <p:cNvSpPr txBox="1"/>
          <p:nvPr/>
        </p:nvSpPr>
        <p:spPr>
          <a:xfrm>
            <a:off x="9570794" y="5963304"/>
            <a:ext cx="235192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00FFFF"/>
                </a:highlight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0.94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-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0.89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= 0.05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  <a:p>
            <a:endParaRPr lang="en-US" dirty="0"/>
          </a:p>
        </p:txBody>
      </p:sp>
      <p:sp>
        <p:nvSpPr>
          <p:cNvPr id="5132" name="TextBox 5131">
            <a:extLst>
              <a:ext uri="{FF2B5EF4-FFF2-40B4-BE49-F238E27FC236}">
                <a16:creationId xmlns:a16="http://schemas.microsoft.com/office/drawing/2014/main" id="{ACA6EF03-DA9F-FA78-5273-231A3533DA44}"/>
              </a:ext>
            </a:extLst>
          </p:cNvPr>
          <p:cNvSpPr txBox="1"/>
          <p:nvPr/>
        </p:nvSpPr>
        <p:spPr>
          <a:xfrm>
            <a:off x="155603" y="5951245"/>
            <a:ext cx="2565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Information gain =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0D4290-E1B2-46D5-18ED-03D160C3789F}"/>
              </a:ext>
            </a:extLst>
          </p:cNvPr>
          <p:cNvSpPr txBox="1"/>
          <p:nvPr/>
        </p:nvSpPr>
        <p:spPr>
          <a:xfrm>
            <a:off x="5532127" y="5766578"/>
            <a:ext cx="35375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weighted average entropy of bottom layer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A7D59E-73A7-F3F2-8D01-1278980E52E8}"/>
              </a:ext>
            </a:extLst>
          </p:cNvPr>
          <p:cNvSpPr txBox="1"/>
          <p:nvPr/>
        </p:nvSpPr>
        <p:spPr>
          <a:xfrm>
            <a:off x="9048601" y="5951245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=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8387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3300A-564D-E075-6FD1-D736B0F63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6A383-87E0-0C7C-92AA-B4617313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Entropy and Information Gain*</a:t>
            </a:r>
          </a:p>
        </p:txBody>
      </p:sp>
      <p:pic>
        <p:nvPicPr>
          <p:cNvPr id="5" name="Picture 4" descr="Logo PMS Blue">
            <a:extLst>
              <a:ext uri="{FF2B5EF4-FFF2-40B4-BE49-F238E27FC236}">
                <a16:creationId xmlns:a16="http://schemas.microsoft.com/office/drawing/2014/main" id="{BAA2216D-7A0A-9660-EDAD-F7A92DA97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416" y="286433"/>
            <a:ext cx="2082304" cy="20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9E2DF03-C62E-84A3-A42B-C9CC2E29AD5B}"/>
              </a:ext>
            </a:extLst>
          </p:cNvPr>
          <p:cNvGraphicFramePr>
            <a:graphicFrameLocks noGrp="1"/>
          </p:cNvGraphicFramePr>
          <p:nvPr/>
        </p:nvGraphicFramePr>
        <p:xfrm>
          <a:off x="6902824" y="1657276"/>
          <a:ext cx="3463554" cy="3919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518">
                  <a:extLst>
                    <a:ext uri="{9D8B030D-6E8A-4147-A177-3AD203B41FA5}">
                      <a16:colId xmlns:a16="http://schemas.microsoft.com/office/drawing/2014/main" val="4166404123"/>
                    </a:ext>
                  </a:extLst>
                </a:gridCol>
                <a:gridCol w="1154518">
                  <a:extLst>
                    <a:ext uri="{9D8B030D-6E8A-4147-A177-3AD203B41FA5}">
                      <a16:colId xmlns:a16="http://schemas.microsoft.com/office/drawing/2014/main" val="2175475267"/>
                    </a:ext>
                  </a:extLst>
                </a:gridCol>
                <a:gridCol w="1154518">
                  <a:extLst>
                    <a:ext uri="{9D8B030D-6E8A-4147-A177-3AD203B41FA5}">
                      <a16:colId xmlns:a16="http://schemas.microsoft.com/office/drawing/2014/main" val="2118376739"/>
                    </a:ext>
                  </a:extLst>
                </a:gridCol>
              </a:tblGrid>
              <a:tr h="493956"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 pitchFamily="34" charset="77"/>
                          <a:cs typeface="+mn-cs"/>
                        </a:rPr>
                        <a:t>Subject 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 pitchFamily="34" charset="77"/>
                          <a:cs typeface="+mn-cs"/>
                        </a:rPr>
                        <a:t>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 pitchFamily="34" charset="77"/>
                          <a:cs typeface="+mn-cs"/>
                        </a:rPr>
                        <a:t>Sex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725693"/>
                  </a:ext>
                </a:extLst>
              </a:tr>
              <a:tr h="6852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923053"/>
                  </a:ext>
                </a:extLst>
              </a:tr>
              <a:tr h="6852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708168"/>
                  </a:ext>
                </a:extLst>
              </a:tr>
              <a:tr h="6852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638406"/>
                  </a:ext>
                </a:extLst>
              </a:tr>
              <a:tr h="6852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380363"/>
                  </a:ext>
                </a:extLst>
              </a:tr>
              <a:tr h="6852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3987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237F7A8-C4C8-EDD4-B2CB-DD4C40032D3A}"/>
              </a:ext>
            </a:extLst>
          </p:cNvPr>
          <p:cNvSpPr txBox="1"/>
          <p:nvPr/>
        </p:nvSpPr>
        <p:spPr>
          <a:xfrm>
            <a:off x="762001" y="1268414"/>
            <a:ext cx="5786718" cy="173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87" marR="0" lvl="0" indent="-342887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720"/>
              </a:spcAft>
              <a:buClrTx/>
              <a:buSzTx/>
              <a:buFont typeface="Verdana" panose="020B0604030504040204" pitchFamily="34" charset="0"/>
              <a:buChar char="−"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But how Age &lt; 50 </a:t>
            </a:r>
            <a:r>
              <a:rPr lang="en-GB" sz="2400" kern="0" dirty="0">
                <a:solidFill>
                  <a:srgbClr val="111111"/>
                </a:solidFill>
                <a:latin typeface="Gill Sans MT" panose="020B0502020104020203" pitchFamily="34" charset="77"/>
                <a:ea typeface="ＭＳ Ｐゴシック" charset="0"/>
                <a:cs typeface="Arial"/>
              </a:rPr>
              <a:t>was an arbitrary choice. How do we select the actual threshold value?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Gill Sans MT" panose="020B0502020104020203" pitchFamily="34" charset="77"/>
              <a:ea typeface="ＭＳ Ｐゴシック" charset="0"/>
              <a:cs typeface="Arial"/>
            </a:endParaRPr>
          </a:p>
          <a:p>
            <a:pPr marL="342887" marR="0" lvl="0" indent="-342887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720"/>
              </a:spcAft>
              <a:buClrTx/>
              <a:buSzTx/>
              <a:buFont typeface="Verdana" panose="020B0604030504040204" pitchFamily="34" charset="0"/>
              <a:buChar char="−"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Gill Sans MT" panose="020B0502020104020203" pitchFamily="34" charset="77"/>
              <a:ea typeface="ＭＳ Ｐゴシック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90953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6BCFE-1B44-72D1-0A06-2B93A632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 Trees -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C0F59-7092-9C07-472D-15A8D002F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Prone to overfit</a:t>
            </a:r>
          </a:p>
          <a:p>
            <a:r>
              <a:rPr lang="en-GB" dirty="0"/>
              <a:t>Poor generalisation performances</a:t>
            </a:r>
          </a:p>
          <a:p>
            <a:r>
              <a:rPr lang="en-GB" dirty="0"/>
              <a:t>High variance</a:t>
            </a:r>
          </a:p>
          <a:p>
            <a:pPr lvl="1"/>
            <a:r>
              <a:rPr lang="en-US" dirty="0"/>
              <a:t>A slight change in the data can result in a completely different set of splits, which can make interpretation difficult</a:t>
            </a:r>
          </a:p>
          <a:p>
            <a:r>
              <a:rPr lang="en-US" dirty="0"/>
              <a:t>They can be inherently unstable</a:t>
            </a:r>
          </a:p>
          <a:p>
            <a:pPr lvl="1"/>
            <a:r>
              <a:rPr lang="en-US" dirty="0"/>
              <a:t>The effect of an error in the top splits propagates down to all the splits below due to their hierarchical nature</a:t>
            </a:r>
            <a:endParaRPr lang="en-GB" dirty="0"/>
          </a:p>
          <a:p>
            <a:r>
              <a:rPr lang="en-GB" dirty="0"/>
              <a:t>Produce biased trees for an unbalanced 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53275-6596-419B-25C7-5C0D3A11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2796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6BCFE-1B44-72D1-0A06-2B93A632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overcome these limitations?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C0F59-7092-9C07-472D-15A8D002F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Ensemble:</a:t>
            </a:r>
          </a:p>
          <a:p>
            <a:pPr lvl="1"/>
            <a:r>
              <a:rPr lang="en-GB" dirty="0"/>
              <a:t>Single DT is fast but does not perform well</a:t>
            </a:r>
          </a:p>
          <a:p>
            <a:pPr lvl="1"/>
            <a:r>
              <a:rPr lang="en-GB" dirty="0"/>
              <a:t>Learn from multiple trees</a:t>
            </a:r>
          </a:p>
          <a:p>
            <a:r>
              <a:rPr lang="en-GB" dirty="0"/>
              <a:t>We need to be careful not to learn the same tree over and over again.</a:t>
            </a:r>
          </a:p>
          <a:p>
            <a:r>
              <a:rPr lang="en-GB" b="1" dirty="0"/>
              <a:t>Averaging: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Bootstrap aggregating: Build many different versions of a model and average their predictions to get a more stable result. </a:t>
            </a:r>
          </a:p>
          <a:p>
            <a:r>
              <a:rPr lang="en-GB" b="1" dirty="0"/>
              <a:t>Boosting: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Build models one after another, each fixing the previous one’s mistakes, to gradually improve accuracy.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53275-6596-419B-25C7-5C0D3A11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49051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7C2BB-8E20-9514-89F4-516978D56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1961E-731E-C5D2-602B-2309B2514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Forest was introduced in 2001 to overcome the limitations of decision trees [1].</a:t>
            </a:r>
          </a:p>
          <a:p>
            <a:r>
              <a:rPr lang="en-US" dirty="0"/>
              <a:t>Ensemble model consisting of multiple decision trees.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8114B-5295-72F7-5A0B-A658EE7E6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A952BA-21EB-83CA-1A44-B7D0C221BBC4}"/>
              </a:ext>
            </a:extLst>
          </p:cNvPr>
          <p:cNvSpPr txBox="1"/>
          <p:nvPr/>
        </p:nvSpPr>
        <p:spPr>
          <a:xfrm>
            <a:off x="628328" y="6381751"/>
            <a:ext cx="73229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[1]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Breiman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, Leo. "Random forests." Machine learning 45.1 (2001): 5-32.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988395-D577-0BCD-AC45-FB50E1570AE8}"/>
              </a:ext>
            </a:extLst>
          </p:cNvPr>
          <p:cNvGrpSpPr/>
          <p:nvPr/>
        </p:nvGrpSpPr>
        <p:grpSpPr>
          <a:xfrm>
            <a:off x="1516291" y="2766424"/>
            <a:ext cx="9159418" cy="3087271"/>
            <a:chOff x="755576" y="2305353"/>
            <a:chExt cx="7632848" cy="2572726"/>
          </a:xfrm>
        </p:grpSpPr>
        <p:pic>
          <p:nvPicPr>
            <p:cNvPr id="6" name="Content Placeholder 5">
              <a:extLst>
                <a:ext uri="{FF2B5EF4-FFF2-40B4-BE49-F238E27FC236}">
                  <a16:creationId xmlns:a16="http://schemas.microsoft.com/office/drawing/2014/main" id="{0839480A-68D3-53B7-6136-E39D4AB6C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55576" y="2305353"/>
              <a:ext cx="7632848" cy="2284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CE7AFAF-8FA2-A839-9F84-D918C5A37D19}"/>
                </a:ext>
              </a:extLst>
            </p:cNvPr>
            <p:cNvSpPr txBox="1"/>
            <p:nvPr/>
          </p:nvSpPr>
          <p:spPr>
            <a:xfrm>
              <a:off x="6228184" y="4585692"/>
              <a:ext cx="1565920" cy="2923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8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MT" panose="020B0502020104020203" pitchFamily="34" charset="77"/>
                  <a:ea typeface="ＭＳ Ｐゴシック" charset="0"/>
                  <a:cs typeface="Arial"/>
                </a:rPr>
                <a:t>Majority vote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74442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16C46-208B-2512-09BD-749AC9B08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Averaging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E8C39-0FDD-761D-E849-9D6286C86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srgbClr val="0E101A"/>
                </a:solidFill>
              </a:rPr>
              <a:t>In averaging methods, the driving principle is to build several estimators independently and then average their predictions.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GB" dirty="0">
              <a:solidFill>
                <a:srgbClr val="0E101A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srgbClr val="0E101A"/>
                </a:solidFill>
              </a:rPr>
              <a:t>The combined estimator is usually better than any single base estimator because its variance is reduced.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GB" dirty="0">
              <a:solidFill>
                <a:srgbClr val="0E101A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srgbClr val="0E101A"/>
                </a:solidFill>
              </a:rPr>
              <a:t>Examples: Bagging methods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AE168-5710-5820-568B-F485677B0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FB1F4A-0B7C-E4FB-F5CF-ADABDE963D76}"/>
              </a:ext>
            </a:extLst>
          </p:cNvPr>
          <p:cNvSpPr txBox="1"/>
          <p:nvPr/>
        </p:nvSpPr>
        <p:spPr>
          <a:xfrm>
            <a:off x="609600" y="6186410"/>
            <a:ext cx="43328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Source: https://scikit-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learn.org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/stable/modules/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ensemble.html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07646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00844-650D-1813-2A8B-C22635764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82759-BDF2-354A-8C57-C987333F2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160" dirty="0">
                <a:solidFill>
                  <a:srgbClr val="212529"/>
                </a:solidFill>
              </a:rPr>
              <a:t>There are different Bagging methods, but they mostly differ from each other in the way they draw random subsets of the training set:</a:t>
            </a:r>
          </a:p>
          <a:p>
            <a:pPr lvl="1"/>
            <a:r>
              <a:rPr lang="en-GB" sz="2160" dirty="0">
                <a:solidFill>
                  <a:srgbClr val="212529"/>
                </a:solidFill>
              </a:rPr>
              <a:t>When random subsets of the dataset are drawn as random subsets of the samples, then this algorithm is known as </a:t>
            </a:r>
            <a:r>
              <a:rPr lang="en-GB" sz="2160" dirty="0">
                <a:solidFill>
                  <a:srgbClr val="FF0000"/>
                </a:solidFill>
              </a:rPr>
              <a:t>Pasting</a:t>
            </a:r>
            <a:r>
              <a:rPr lang="en-GB" sz="2160" dirty="0"/>
              <a:t>.</a:t>
            </a:r>
          </a:p>
          <a:p>
            <a:pPr lvl="1"/>
            <a:r>
              <a:rPr lang="en-GB" sz="2160" dirty="0">
                <a:solidFill>
                  <a:srgbClr val="212529"/>
                </a:solidFill>
              </a:rPr>
              <a:t>When samples are drawn with replacement, then the method is known as </a:t>
            </a:r>
            <a:r>
              <a:rPr lang="en-GB" sz="2160" dirty="0">
                <a:solidFill>
                  <a:srgbClr val="FF0000"/>
                </a:solidFill>
              </a:rPr>
              <a:t>Bagging</a:t>
            </a:r>
            <a:r>
              <a:rPr lang="en-GB" sz="2160" dirty="0"/>
              <a:t>.</a:t>
            </a:r>
          </a:p>
          <a:p>
            <a:pPr lvl="1"/>
            <a:r>
              <a:rPr lang="en-GB" sz="2160" dirty="0">
                <a:solidFill>
                  <a:srgbClr val="212529"/>
                </a:solidFill>
              </a:rPr>
              <a:t>When random subsets of the dataset are drawn as random subsets of the features, then the method is known as </a:t>
            </a:r>
            <a:r>
              <a:rPr lang="en-GB" sz="2160" dirty="0">
                <a:solidFill>
                  <a:srgbClr val="FF0000"/>
                </a:solidFill>
              </a:rPr>
              <a:t>Random Subspaces</a:t>
            </a:r>
            <a:r>
              <a:rPr lang="en-GB" sz="2160" dirty="0">
                <a:solidFill>
                  <a:srgbClr val="212529"/>
                </a:solidFill>
              </a:rPr>
              <a:t>.</a:t>
            </a:r>
          </a:p>
          <a:p>
            <a:pPr lvl="1"/>
            <a:r>
              <a:rPr lang="en-GB" sz="2160" dirty="0">
                <a:solidFill>
                  <a:srgbClr val="212529"/>
                </a:solidFill>
              </a:rPr>
              <a:t>Finally, when base estimators are built on subsets of both samples and features, then the method is known as </a:t>
            </a:r>
            <a:r>
              <a:rPr lang="en-GB" sz="2160" dirty="0">
                <a:solidFill>
                  <a:srgbClr val="FF0000"/>
                </a:solidFill>
              </a:rPr>
              <a:t>Random Patches</a:t>
            </a:r>
            <a:r>
              <a:rPr lang="en-GB" sz="2160" dirty="0">
                <a:solidFill>
                  <a:srgbClr val="212529"/>
                </a:solidFill>
              </a:rPr>
              <a:t>.</a:t>
            </a:r>
          </a:p>
          <a:p>
            <a:r>
              <a:rPr lang="en-GB" sz="2160" dirty="0">
                <a:solidFill>
                  <a:srgbClr val="212529"/>
                </a:solidFill>
              </a:rPr>
              <a:t>In scikit-learn, bagging methods are offered as a unified </a:t>
            </a:r>
            <a:r>
              <a:rPr lang="en-GB" sz="2160" dirty="0">
                <a:solidFill>
                  <a:srgbClr val="2878A2"/>
                </a:solidFill>
                <a:hlinkClick r:id="rId2" tooltip="sklearn.ensemble.BaggingClassifier"/>
              </a:rPr>
              <a:t>BaggingClassifier</a:t>
            </a:r>
            <a:r>
              <a:rPr lang="en-GB" sz="2160" dirty="0">
                <a:solidFill>
                  <a:srgbClr val="212529"/>
                </a:solidFill>
              </a:rPr>
              <a:t> meta-estimator taking as input a user-specified estimator along with parameters specifying the strategy to draw random subsets. </a:t>
            </a:r>
            <a:endParaRPr lang="en-GB" sz="216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B4DDBA-55EE-E68A-517D-250E84CCCF2D}"/>
              </a:ext>
            </a:extLst>
          </p:cNvPr>
          <p:cNvSpPr txBox="1"/>
          <p:nvPr/>
        </p:nvSpPr>
        <p:spPr>
          <a:xfrm>
            <a:off x="609600" y="6389689"/>
            <a:ext cx="43328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Source: https://scikit-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learn.org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/stable/modules/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ensemble.html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22728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80432-6F35-5469-9AF5-3B416577F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C28CB-11FA-852E-A9CA-C51165C1B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Bagging</a:t>
            </a:r>
          </a:p>
        </p:txBody>
      </p:sp>
      <p:pic>
        <p:nvPicPr>
          <p:cNvPr id="11266" name="Picture 2" descr="Framework of random forest algorithm 1000 random bootstrap samples were...  | Download Scientific Diagram">
            <a:extLst>
              <a:ext uri="{FF2B5EF4-FFF2-40B4-BE49-F238E27FC236}">
                <a16:creationId xmlns:a16="http://schemas.microsoft.com/office/drawing/2014/main" id="{4BFBC979-C528-6299-23B2-CB43D7C1E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862" y="1137763"/>
            <a:ext cx="9570275" cy="458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19135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FB214-A0EC-EC82-1059-4CD8FBBDE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Boosting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5327F-6FEA-83A9-11F1-5865F3B5A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srgbClr val="0E101A"/>
                </a:solidFill>
                <a:effectLst/>
              </a:rPr>
              <a:t>By contrast, in </a:t>
            </a:r>
            <a:r>
              <a:rPr lang="en-GB" b="1" dirty="0">
                <a:solidFill>
                  <a:srgbClr val="0E101A"/>
                </a:solidFill>
                <a:effectLst/>
              </a:rPr>
              <a:t>boosting methods</a:t>
            </a:r>
            <a:r>
              <a:rPr lang="en-GB" dirty="0">
                <a:solidFill>
                  <a:srgbClr val="0E101A"/>
                </a:solidFill>
                <a:effectLst/>
              </a:rPr>
              <a:t>, base estimators are built sequentially, and one tries to reduce the bias of the combined estimator.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GB" dirty="0">
              <a:solidFill>
                <a:srgbClr val="0E101A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srgbClr val="0E101A"/>
                </a:solidFill>
                <a:effectLst/>
              </a:rPr>
              <a:t>The motivation is to combine several weak models to produce a powerful ensemble.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GB" dirty="0">
              <a:solidFill>
                <a:srgbClr val="0E101A"/>
              </a:solidFill>
              <a:effectLst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srgbClr val="0E101A"/>
                </a:solidFill>
                <a:effectLst/>
              </a:rPr>
              <a:t>Examples: </a:t>
            </a:r>
            <a:r>
              <a:rPr lang="en-GB" dirty="0" err="1">
                <a:solidFill>
                  <a:srgbClr val="0E101A"/>
                </a:solidFill>
                <a:effectLst/>
              </a:rPr>
              <a:t>XGBoost</a:t>
            </a:r>
            <a:r>
              <a:rPr lang="en-GB" dirty="0">
                <a:solidFill>
                  <a:srgbClr val="0E101A"/>
                </a:solidFill>
                <a:effectLst/>
              </a:rPr>
              <a:t>, Gradient Tree Boosting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E37FB8-4525-E541-498C-3A6F1B387C95}"/>
              </a:ext>
            </a:extLst>
          </p:cNvPr>
          <p:cNvSpPr txBox="1"/>
          <p:nvPr/>
        </p:nvSpPr>
        <p:spPr>
          <a:xfrm>
            <a:off x="609600" y="6186410"/>
            <a:ext cx="43328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Source: https://scikit-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learn.org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/stable/modules/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ensemble.html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71611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E6F2C1F-FC73-5F87-0E83-B183C59E197A}"/>
              </a:ext>
            </a:extLst>
          </p:cNvPr>
          <p:cNvCxnSpPr/>
          <p:nvPr/>
        </p:nvCxnSpPr>
        <p:spPr>
          <a:xfrm>
            <a:off x="5713717" y="4584751"/>
            <a:ext cx="0" cy="1002346"/>
          </a:xfrm>
          <a:prstGeom prst="line">
            <a:avLst/>
          </a:prstGeom>
          <a:ln w="28575">
            <a:solidFill>
              <a:srgbClr val="FF2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2C6657B-3C61-6697-8FEC-53B04C7F6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Gradient Boosting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FAA41-A0E3-5BF0-ACF1-799B5FC37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strike="noStrike" dirty="0">
                <a:solidFill>
                  <a:srgbClr val="000000"/>
                </a:solidFill>
                <a:effectLst/>
              </a:rPr>
              <a:t>The term “gradient boosting” comes from the idea of “boosting” or improving a single weak model by combining it with several other weak models to generate a collectively strong model. </a:t>
            </a:r>
          </a:p>
          <a:p>
            <a:r>
              <a:rPr lang="en-GB" b="0" i="0" strike="noStrike" dirty="0">
                <a:solidFill>
                  <a:srgbClr val="000000"/>
                </a:solidFill>
                <a:effectLst/>
              </a:rPr>
              <a:t>Gradient boosting sets targeted outcomes for the next model to minimise errors. </a:t>
            </a:r>
          </a:p>
          <a:p>
            <a:r>
              <a:rPr lang="en-GB" dirty="0"/>
              <a:t>The outputs of each model are scaled down by a learning rate and added together to get the final prediction.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A3A3D-4FCE-FE43-A294-3177639D4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3F69CD3-568A-E223-32B3-F8F110AFE24F}"/>
              </a:ext>
            </a:extLst>
          </p:cNvPr>
          <p:cNvSpPr/>
          <p:nvPr/>
        </p:nvSpPr>
        <p:spPr>
          <a:xfrm>
            <a:off x="4147130" y="4371391"/>
            <a:ext cx="213360" cy="21336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AA92C0-1AF5-0E47-58CB-8B297A9F5275}"/>
              </a:ext>
            </a:extLst>
          </p:cNvPr>
          <p:cNvSpPr/>
          <p:nvPr/>
        </p:nvSpPr>
        <p:spPr>
          <a:xfrm>
            <a:off x="4147130" y="5587097"/>
            <a:ext cx="213360" cy="2133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579B47-4223-65AA-FC94-60ACE240EB7F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4253810" y="4584751"/>
            <a:ext cx="0" cy="1002346"/>
          </a:xfrm>
          <a:prstGeom prst="line">
            <a:avLst/>
          </a:prstGeom>
          <a:ln w="28575">
            <a:solidFill>
              <a:srgbClr val="FF2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B3CAD036-D66F-7514-86B7-93F0B61EDCF9}"/>
              </a:ext>
            </a:extLst>
          </p:cNvPr>
          <p:cNvSpPr/>
          <p:nvPr/>
        </p:nvSpPr>
        <p:spPr>
          <a:xfrm>
            <a:off x="5607037" y="4371391"/>
            <a:ext cx="213360" cy="21336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29F6EA-AE56-728A-582C-E5F77C1218BB}"/>
              </a:ext>
            </a:extLst>
          </p:cNvPr>
          <p:cNvSpPr/>
          <p:nvPr/>
        </p:nvSpPr>
        <p:spPr>
          <a:xfrm>
            <a:off x="5607037" y="5587097"/>
            <a:ext cx="213360" cy="2133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623E6B-2B9C-1859-370C-AFB3986852AE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5713717" y="5069298"/>
            <a:ext cx="0" cy="517799"/>
          </a:xfrm>
          <a:prstGeom prst="line">
            <a:avLst/>
          </a:prstGeom>
          <a:ln w="28575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24999A2-8E79-A8AB-6073-AD28E7B3981B}"/>
              </a:ext>
            </a:extLst>
          </p:cNvPr>
          <p:cNvCxnSpPr>
            <a:cxnSpLocks/>
          </p:cNvCxnSpPr>
          <p:nvPr/>
        </p:nvCxnSpPr>
        <p:spPr>
          <a:xfrm flipH="1">
            <a:off x="7018802" y="4584751"/>
            <a:ext cx="1" cy="219627"/>
          </a:xfrm>
          <a:prstGeom prst="line">
            <a:avLst/>
          </a:prstGeom>
          <a:ln w="28575">
            <a:solidFill>
              <a:srgbClr val="FF2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652D8A9-74BC-2484-622F-09DF116A0A48}"/>
              </a:ext>
            </a:extLst>
          </p:cNvPr>
          <p:cNvSpPr/>
          <p:nvPr/>
        </p:nvSpPr>
        <p:spPr>
          <a:xfrm>
            <a:off x="6912123" y="4371391"/>
            <a:ext cx="213360" cy="21336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595A85D-4BEC-F089-0074-A4B1EFF094F0}"/>
              </a:ext>
            </a:extLst>
          </p:cNvPr>
          <p:cNvSpPr/>
          <p:nvPr/>
        </p:nvSpPr>
        <p:spPr>
          <a:xfrm>
            <a:off x="6912123" y="5587097"/>
            <a:ext cx="213360" cy="2133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3842AF4-0319-6E08-C9CC-6FABF60FD4F2}"/>
              </a:ext>
            </a:extLst>
          </p:cNvPr>
          <p:cNvCxnSpPr>
            <a:cxnSpLocks/>
          </p:cNvCxnSpPr>
          <p:nvPr/>
        </p:nvCxnSpPr>
        <p:spPr>
          <a:xfrm>
            <a:off x="7018803" y="4804378"/>
            <a:ext cx="0" cy="264920"/>
          </a:xfrm>
          <a:prstGeom prst="line">
            <a:avLst/>
          </a:prstGeom>
          <a:ln w="28575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6228274-D0F1-6B78-9F17-30AB7441276F}"/>
              </a:ext>
            </a:extLst>
          </p:cNvPr>
          <p:cNvSpPr txBox="1"/>
          <p:nvPr/>
        </p:nvSpPr>
        <p:spPr>
          <a:xfrm>
            <a:off x="2236842" y="4325886"/>
            <a:ext cx="13580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Real value = 1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EDA9D1-ED2E-0BED-CA35-15B2ADF71FFC}"/>
              </a:ext>
            </a:extLst>
          </p:cNvPr>
          <p:cNvSpPr txBox="1"/>
          <p:nvPr/>
        </p:nvSpPr>
        <p:spPr>
          <a:xfrm>
            <a:off x="1803034" y="5570337"/>
            <a:ext cx="19447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Predicted value = 0.4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  <a:p>
            <a:endParaRPr lang="en-US" sz="16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5980272-00AF-A819-89CA-1321B8BC863D}"/>
              </a:ext>
            </a:extLst>
          </p:cNvPr>
          <p:cNvSpPr/>
          <p:nvPr/>
        </p:nvSpPr>
        <p:spPr>
          <a:xfrm>
            <a:off x="8187588" y="4371391"/>
            <a:ext cx="213360" cy="21336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0761ACC-3A91-871B-2701-F696BA48CA99}"/>
              </a:ext>
            </a:extLst>
          </p:cNvPr>
          <p:cNvSpPr/>
          <p:nvPr/>
        </p:nvSpPr>
        <p:spPr>
          <a:xfrm>
            <a:off x="8187588" y="5587097"/>
            <a:ext cx="213360" cy="2133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54C1C98-DD4B-2B68-1ABF-3E58F5AB5AAB}"/>
              </a:ext>
            </a:extLst>
          </p:cNvPr>
          <p:cNvCxnSpPr>
            <a:cxnSpLocks/>
          </p:cNvCxnSpPr>
          <p:nvPr/>
        </p:nvCxnSpPr>
        <p:spPr>
          <a:xfrm>
            <a:off x="8294268" y="4582184"/>
            <a:ext cx="0" cy="222194"/>
          </a:xfrm>
          <a:prstGeom prst="line">
            <a:avLst/>
          </a:prstGeom>
          <a:ln w="28575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0C44EF3-C0F0-5929-1642-89E3A354B39F}"/>
              </a:ext>
            </a:extLst>
          </p:cNvPr>
          <p:cNvSpPr txBox="1"/>
          <p:nvPr/>
        </p:nvSpPr>
        <p:spPr>
          <a:xfrm>
            <a:off x="3820838" y="6084396"/>
            <a:ext cx="8659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Model 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  <a:p>
            <a:endParaRPr lang="en-US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4CFF98-F2F7-33AC-09A9-8292F507E2FC}"/>
              </a:ext>
            </a:extLst>
          </p:cNvPr>
          <p:cNvSpPr txBox="1"/>
          <p:nvPr/>
        </p:nvSpPr>
        <p:spPr>
          <a:xfrm>
            <a:off x="5280745" y="6083343"/>
            <a:ext cx="8659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Model 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  <a:p>
            <a:endParaRPr lang="en-US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95F931-DECF-641E-EDE3-61887E63F671}"/>
              </a:ext>
            </a:extLst>
          </p:cNvPr>
          <p:cNvSpPr txBox="1"/>
          <p:nvPr/>
        </p:nvSpPr>
        <p:spPr>
          <a:xfrm>
            <a:off x="6585831" y="6083342"/>
            <a:ext cx="8659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Model 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  <a:p>
            <a:endParaRPr lang="en-US" sz="1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41390C-34CF-25D4-1EB2-D87604455A1B}"/>
              </a:ext>
            </a:extLst>
          </p:cNvPr>
          <p:cNvSpPr txBox="1"/>
          <p:nvPr/>
        </p:nvSpPr>
        <p:spPr>
          <a:xfrm>
            <a:off x="7871657" y="6083342"/>
            <a:ext cx="8659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Model 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  <a:p>
            <a:endParaRPr lang="en-US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EEA7B0-2296-B0E6-20D0-3108DBFD433D}"/>
              </a:ext>
            </a:extLst>
          </p:cNvPr>
          <p:cNvSpPr txBox="1"/>
          <p:nvPr/>
        </p:nvSpPr>
        <p:spPr>
          <a:xfrm>
            <a:off x="5134814" y="5137878"/>
            <a:ext cx="68266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+0.3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  <a:p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0616A8-3018-193C-E741-332BA9D3CBE5}"/>
              </a:ext>
            </a:extLst>
          </p:cNvPr>
          <p:cNvSpPr txBox="1"/>
          <p:nvPr/>
        </p:nvSpPr>
        <p:spPr>
          <a:xfrm>
            <a:off x="6429956" y="4745073"/>
            <a:ext cx="68266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+0.2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  <a:p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5726FA-6A23-5C91-AC07-48A98F7486C0}"/>
              </a:ext>
            </a:extLst>
          </p:cNvPr>
          <p:cNvSpPr txBox="1"/>
          <p:nvPr/>
        </p:nvSpPr>
        <p:spPr>
          <a:xfrm>
            <a:off x="7749380" y="4522325"/>
            <a:ext cx="68266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charset="0"/>
                <a:cs typeface="Arial"/>
              </a:rPr>
              <a:t>+0.1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1995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3A398-EBCF-3779-96FE-8DCE6204E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XGBoost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3581B-3639-6FBC-14C7-44F067E74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GBDTs iteratively train an ensemble of shallow decision trees, with each iteration using the </a:t>
            </a:r>
            <a:r>
              <a:rPr lang="en-GB" dirty="0">
                <a:solidFill>
                  <a:srgbClr val="000000"/>
                </a:solidFill>
              </a:rPr>
              <a:t>residuals from the previous model to fit the next. 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The final prediction is a weighted sum of all of the tree predictions. Random forest “bagging” minimises the variance and overfitting, while GBDT “boosting” minimises the bias and underfitting.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F8FF5-8429-D59B-97EA-4D058DA1E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53016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85316-1836-A681-ECC5-565E914D8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Random Forests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7710C-6815-C91F-6A90-166D43EB3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random forests, each tree in the ensemble is built from a sample drawn with replacement (i.e., a bootstrap sample) from the training set.</a:t>
            </a:r>
          </a:p>
          <a:p>
            <a:endParaRPr lang="en-GB" dirty="0"/>
          </a:p>
          <a:p>
            <a:r>
              <a:rPr lang="en-GB" dirty="0"/>
              <a:t> When splitting each node during the construction of a tree, the best split is found either from all input features or a random subset of size </a:t>
            </a:r>
            <a:r>
              <a:rPr lang="en-GB" dirty="0" err="1"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max_features</a:t>
            </a:r>
            <a:r>
              <a:rPr lang="en-GB" dirty="0"/>
              <a:t>. </a:t>
            </a:r>
          </a:p>
          <a:p>
            <a:endParaRPr lang="en-GB" dirty="0"/>
          </a:p>
          <a:p>
            <a:r>
              <a:rPr lang="en-GB" dirty="0"/>
              <a:t>The purpose of these two sources of randomness is to decrease the variance of the forest estimator. 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67EC3-CDE6-2D5E-2BE4-47BFB8C8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3641CD-CCA4-BF1F-2B25-15CB46363505}"/>
              </a:ext>
            </a:extLst>
          </p:cNvPr>
          <p:cNvSpPr txBox="1"/>
          <p:nvPr/>
        </p:nvSpPr>
        <p:spPr>
          <a:xfrm>
            <a:off x="609600" y="6188301"/>
            <a:ext cx="43328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Source: https://scikit-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learn.org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/stable/modules/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ensemble.html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67670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1ECBD-32A6-02E9-9BCA-DA3CECDE7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 of Random Forests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292245-E990-9E90-EAAF-CD0DE5589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98F552-A29D-2D4E-8192-F20670493719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pic>
        <p:nvPicPr>
          <p:cNvPr id="4098" name="Picture 2" descr="Figure 3">
            <a:extLst>
              <a:ext uri="{FF2B5EF4-FFF2-40B4-BE49-F238E27FC236}">
                <a16:creationId xmlns:a16="http://schemas.microsoft.com/office/drawing/2014/main" id="{AC02FF1A-4BC7-D653-8439-A23BCFB18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729" y="1116014"/>
            <a:ext cx="5035338" cy="4780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0DCBAC-E3AE-8207-792D-98037AB2D28F}"/>
              </a:ext>
            </a:extLst>
          </p:cNvPr>
          <p:cNvSpPr txBox="1"/>
          <p:nvPr/>
        </p:nvSpPr>
        <p:spPr>
          <a:xfrm>
            <a:off x="825015" y="6330015"/>
            <a:ext cx="96267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Source: 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Malebary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, S.J., Khan, Y.D. Evaluating machine learning methodologies for identification of cancer driver genes. </a:t>
            </a:r>
            <a:r>
              <a:rPr kumimoji="0" lang="en-GB" sz="10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Sci Rep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 </a:t>
            </a: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11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, 12281 (2021). </a:t>
            </a:r>
            <a:b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</a:b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https://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doi.org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/10.1038/s41598-021-91656-8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39553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61551-092D-BFBA-889E-1ACE242D6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 important in RF: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596FD-FE3B-7D0F-F2B4-CEE2F61FA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0" u="none" strike="noStrike" dirty="0">
                <a:solidFill>
                  <a:srgbClr val="222222"/>
                </a:solidFill>
                <a:effectLst/>
              </a:rPr>
              <a:t>Every time a feature is used to split a node, the algorithm measures how much that split reduces impurity. </a:t>
            </a:r>
          </a:p>
          <a:p>
            <a:r>
              <a:rPr lang="en-GB" dirty="0">
                <a:solidFill>
                  <a:srgbClr val="222222"/>
                </a:solidFill>
              </a:rPr>
              <a:t>These reductions are summed over all trees. </a:t>
            </a:r>
            <a:endParaRPr lang="en-GB" i="0" u="none" strike="noStrike" dirty="0">
              <a:solidFill>
                <a:srgbClr val="222222"/>
              </a:solidFill>
              <a:effectLst/>
            </a:endParaRP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77F3C-A545-FA60-4CDE-72006FAD7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pic>
        <p:nvPicPr>
          <p:cNvPr id="12290" name="Picture 2" descr="Feature importance ranking of the random forest. The importance ranking...  | Download Scientific Diagram">
            <a:extLst>
              <a:ext uri="{FF2B5EF4-FFF2-40B4-BE49-F238E27FC236}">
                <a16:creationId xmlns:a16="http://schemas.microsoft.com/office/drawing/2014/main" id="{827B455A-67EF-6D41-D187-7E7B08CFC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279" y="2777487"/>
            <a:ext cx="5476409" cy="345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BB2B5C-B33D-034D-9CC2-8425086FAB0A}"/>
              </a:ext>
            </a:extLst>
          </p:cNvPr>
          <p:cNvSpPr txBox="1"/>
          <p:nvPr/>
        </p:nvSpPr>
        <p:spPr>
          <a:xfrm>
            <a:off x="127000" y="6408698"/>
            <a:ext cx="10782300" cy="312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GB" sz="1200" b="0" i="0" u="none" strike="noStrike" dirty="0">
                <a:solidFill>
                  <a:srgbClr val="E8EAED"/>
                </a:solidFill>
                <a:effectLst/>
                <a:latin typeface="Google Sans"/>
                <a:hlinkClick r:id="rId4"/>
              </a:rPr>
              <a:t>Feature importance ranking of the random forest. The importance ranking... | Download Scientific Diagram</a:t>
            </a:r>
          </a:p>
        </p:txBody>
      </p:sp>
    </p:spTree>
    <p:extLst>
      <p:ext uri="{BB962C8B-B14F-4D97-AF65-F5344CB8AC3E}">
        <p14:creationId xmlns:p14="http://schemas.microsoft.com/office/powerpoint/2010/main" val="972830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0561B-24DA-A65C-1F9F-C74506834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Random Forests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A94CF-3704-8BF7-2276-53908538A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Individual decision trees typically exhibit high variance and tend to overfit.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  <a:p>
            <a:r>
              <a:rPr lang="en-GB" dirty="0"/>
              <a:t>The injected randomness in forests yields decision trees with somewhat decoupled prediction errors. </a:t>
            </a:r>
          </a:p>
          <a:p>
            <a:pPr marL="0" indent="0">
              <a:buNone/>
            </a:pPr>
            <a:endParaRPr lang="en-GB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srgbClr val="0E101A"/>
                </a:solidFill>
                <a:effectLst/>
              </a:rPr>
              <a:t>By </a:t>
            </a:r>
            <a:r>
              <a:rPr lang="en-GB" dirty="0">
                <a:solidFill>
                  <a:srgbClr val="0E101A"/>
                </a:solidFill>
              </a:rPr>
              <a:t>averaging those predictions, some errors can cancel each other </a:t>
            </a:r>
            <a:r>
              <a:rPr lang="en-GB" dirty="0">
                <a:solidFill>
                  <a:srgbClr val="0E101A"/>
                </a:solidFill>
                <a:effectLst/>
              </a:rPr>
              <a:t>out. Random forests achieve a reduced variance by combining diverse trees, sometimes at the cost of a slight increase in bias. 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dirty="0">
                <a:solidFill>
                  <a:srgbClr val="0E101A"/>
                </a:solidFill>
                <a:effectLst/>
              </a:rPr>
            </a:br>
            <a:endParaRPr lang="en-GB" dirty="0">
              <a:solidFill>
                <a:srgbClr val="0E101A"/>
              </a:solidFill>
              <a:effectLst/>
            </a:endParaRP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A4572-1681-92AF-86D6-AE3689C9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56FDB0-C7FC-23BE-5F6B-4389973B962D}"/>
              </a:ext>
            </a:extLst>
          </p:cNvPr>
          <p:cNvSpPr txBox="1"/>
          <p:nvPr/>
        </p:nvSpPr>
        <p:spPr>
          <a:xfrm>
            <a:off x="609600" y="6293697"/>
            <a:ext cx="43328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Source: https://scikit-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learn.org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/stable/modules/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ensemble.html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35865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863AF-A142-86DF-CD60-6B99DA223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Practical note on RFs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2001B-3654-876F-873D-9943F2C10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srgbClr val="0E101A"/>
                </a:solidFill>
                <a:effectLst/>
              </a:rPr>
              <a:t>In practice, </a:t>
            </a:r>
            <a:r>
              <a:rPr lang="en-GB" dirty="0">
                <a:solidFill>
                  <a:srgbClr val="0E101A"/>
                </a:solidFill>
              </a:rPr>
              <a:t>variance reduction is often significant, yielding a better overall </a:t>
            </a:r>
            <a:r>
              <a:rPr lang="en-GB" dirty="0">
                <a:solidFill>
                  <a:srgbClr val="0E101A"/>
                </a:solidFill>
                <a:effectLst/>
              </a:rPr>
              <a:t>model.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dirty="0">
                <a:solidFill>
                  <a:srgbClr val="0E101A"/>
                </a:solidFill>
                <a:effectLst/>
              </a:rPr>
            </a:br>
            <a:endParaRPr lang="en-GB" dirty="0">
              <a:solidFill>
                <a:srgbClr val="0E101A"/>
              </a:solidFill>
              <a:effectLst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srgbClr val="0E101A"/>
                </a:solidFill>
                <a:effectLst/>
              </a:rPr>
              <a:t>In contrast to the original publication, the scikit-learn implementation combines classifiers by averaging their probabilistic </a:t>
            </a:r>
            <a:r>
              <a:rPr lang="en-GB" dirty="0">
                <a:solidFill>
                  <a:srgbClr val="0E101A"/>
                </a:solidFill>
              </a:rPr>
              <a:t>predictions rather than </a:t>
            </a:r>
            <a:r>
              <a:rPr lang="en-GB" dirty="0">
                <a:solidFill>
                  <a:srgbClr val="0E101A"/>
                </a:solidFill>
                <a:effectLst/>
              </a:rPr>
              <a:t>letting each classifier vote for a single class.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0F69D-6A55-E665-BB33-6D49DEA99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73CE62-9F87-B82B-61D4-1766DA6DE567}"/>
              </a:ext>
            </a:extLst>
          </p:cNvPr>
          <p:cNvSpPr txBox="1"/>
          <p:nvPr/>
        </p:nvSpPr>
        <p:spPr>
          <a:xfrm>
            <a:off x="609600" y="6381751"/>
            <a:ext cx="43328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Source: https://scikit-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learn.org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/stable/modules/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t>ensemble.html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64339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5FF34-C6DF-02D3-FEE8-9D50CF9AD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A01DB-51C6-D0DA-3680-1806DC293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Menti meter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9803C-6CDE-B50C-3CBA-A77FA6C80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402094"/>
            <a:ext cx="10972800" cy="835195"/>
          </a:xfrm>
        </p:spPr>
        <p:txBody>
          <a:bodyPr/>
          <a:lstStyle/>
          <a:p>
            <a:pPr marL="0" indent="0" algn="ctr">
              <a:buNone/>
            </a:pPr>
            <a:r>
              <a:rPr lang="en-US">
                <a:hlinkClick r:id="rId2"/>
              </a:rPr>
              <a:t>https://www.menti.com/alp1axuqbv1p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Code: </a:t>
            </a:r>
            <a:r>
              <a:rPr lang="en-GB"/>
              <a:t>4790 0935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E2462-DB93-3EDF-98A9-EFC8A7F4A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2EE9-B8A0-0641-9265-052CFE9B95A7}" type="slidenum">
              <a:rPr lang="en-GB" altLang="en-US" smtClean="0"/>
              <a:pPr/>
              <a:t>54</a:t>
            </a:fld>
            <a:endParaRPr lang="en-GB" altLang="en-US" dirty="0"/>
          </a:p>
        </p:txBody>
      </p:sp>
      <p:pic>
        <p:nvPicPr>
          <p:cNvPr id="7" name="Picture 6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9C3E55A3-7969-6051-9429-A4C7B450C3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056" y="1003851"/>
            <a:ext cx="4263887" cy="426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7378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73CD-9E51-9769-B57E-FBE19267B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F4991-BEED-18EF-243E-D5D9E93C6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kern="1200" dirty="0"/>
              <a:t>A research team is building a predictive model to estimate the progression of Parkinson’s disease using patient data (motor scores, speech patterns, imaging features).</a:t>
            </a:r>
          </a:p>
          <a:p>
            <a:r>
              <a:rPr lang="en-GB" sz="1800" b="1" kern="1200" dirty="0"/>
              <a:t>Ensemble Models</a:t>
            </a:r>
            <a:r>
              <a:rPr lang="en-GB" sz="1800" kern="1200" dirty="0"/>
              <a:t>:</a:t>
            </a:r>
          </a:p>
          <a:p>
            <a:pPr lvl="1"/>
            <a:r>
              <a:rPr lang="en-GB" sz="1800" kern="1200" dirty="0">
                <a:ea typeface="ＭＳ Ｐゴシック" charset="0"/>
              </a:rPr>
              <a:t>How could Random Forests or Gradient Boosting improve prediction accuracy compared to a single decision tree?</a:t>
            </a:r>
          </a:p>
          <a:p>
            <a:pPr lvl="1"/>
            <a:r>
              <a:rPr lang="en-GB" sz="1800" kern="1200" dirty="0">
                <a:ea typeface="ＭＳ Ｐゴシック" charset="0"/>
              </a:rPr>
              <a:t>What trade-offs exist between interpretability and performance in clinical settings?</a:t>
            </a:r>
          </a:p>
          <a:p>
            <a:r>
              <a:rPr lang="en-GB" sz="1800" b="1" kern="1200" dirty="0"/>
              <a:t>Kernel-Based Methods</a:t>
            </a:r>
            <a:r>
              <a:rPr lang="en-GB" sz="1800" kern="1200" dirty="0"/>
              <a:t>:</a:t>
            </a:r>
          </a:p>
          <a:p>
            <a:pPr lvl="1"/>
            <a:r>
              <a:rPr lang="en-GB" sz="1800" kern="1200" dirty="0">
                <a:ea typeface="ＭＳ Ｐゴシック" charset="0"/>
              </a:rPr>
              <a:t>Could an SVM with an RBF kernel capture non-linear relationships in complex neurological data?</a:t>
            </a:r>
          </a:p>
          <a:p>
            <a:pPr lvl="1"/>
            <a:r>
              <a:rPr lang="en-GB" sz="1800" kern="1200" dirty="0">
                <a:ea typeface="ＭＳ Ｐゴシック" charset="0"/>
              </a:rPr>
              <a:t>How do we choose between kernel-based methods and ensemble models for this problem?</a:t>
            </a:r>
          </a:p>
          <a:p>
            <a:r>
              <a:rPr lang="en-GB" sz="1800" b="1" kern="1200" dirty="0"/>
              <a:t>Ethical &amp; Practical Considerations</a:t>
            </a:r>
            <a:r>
              <a:rPr lang="en-GB" sz="1800" kern="1200" dirty="0"/>
              <a:t>:</a:t>
            </a:r>
          </a:p>
          <a:p>
            <a:pPr lvl="1"/>
            <a:r>
              <a:rPr lang="en-GB" sz="1800" kern="1200" dirty="0">
                <a:ea typeface="ＭＳ Ｐゴシック" charset="0"/>
              </a:rPr>
              <a:t>Which approach is more robust to small sample sizes often seen in medical research?</a:t>
            </a:r>
          </a:p>
          <a:p>
            <a:pPr lvl="1"/>
            <a:r>
              <a:rPr lang="en-GB" sz="1800" kern="1200" dirty="0">
                <a:ea typeface="ＭＳ Ｐゴシック" charset="0"/>
              </a:rPr>
              <a:t>How do we ensure fairness and avoid bias when using these methods on diverse patient populations?</a:t>
            </a:r>
          </a:p>
          <a:p>
            <a:endParaRPr lang="en-GB" sz="1800" dirty="0"/>
          </a:p>
          <a:p>
            <a:endParaRPr lang="en-GB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90A15-194C-705B-6ED4-F7C03E948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22EE9-B8A0-0641-9265-052CFE9B95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8450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0515C-C326-E8FE-12C3-7C95F93C4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70248-0A6A-5DBE-4B1D-4861E35D3E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The ML Roadmap</a:t>
            </a:r>
          </a:p>
        </p:txBody>
      </p:sp>
    </p:spTree>
    <p:extLst>
      <p:ext uri="{BB962C8B-B14F-4D97-AF65-F5344CB8AC3E}">
        <p14:creationId xmlns:p14="http://schemas.microsoft.com/office/powerpoint/2010/main" val="16422646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7600F-FF81-5645-262E-59277E763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1: Define the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C50BD-8C62-07E2-1478-A92C6CB78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is the problem?</a:t>
            </a:r>
          </a:p>
          <a:p>
            <a:r>
              <a:rPr lang="en-US"/>
              <a:t>What are you predicting? </a:t>
            </a:r>
          </a:p>
          <a:p>
            <a:r>
              <a:rPr lang="en-US"/>
              <a:t>Classification (categorical predicted value) or regression (continuous predicted value)?</a:t>
            </a:r>
          </a:p>
          <a:p>
            <a:r>
              <a:rPr lang="en-US"/>
              <a:t>What does a successful model look like? (Think of evaluation metrics)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77AC5-48AB-7E90-7DBA-5B9AF192F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2EE9-B8A0-0641-9265-052CFE9B95A7}" type="slidenum">
              <a:rPr lang="en-GB" altLang="en-US" smtClean="0"/>
              <a:pPr/>
              <a:t>57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268875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4D836-A81D-5374-A081-F1FAAB2E0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26987"/>
            <a:ext cx="10972800" cy="1143001"/>
          </a:xfrm>
        </p:spPr>
        <p:txBody>
          <a:bodyPr wrap="square" anchor="ctr">
            <a:normAutofit/>
          </a:bodyPr>
          <a:lstStyle/>
          <a:p>
            <a:r>
              <a:rPr lang="en-GB"/>
              <a:t>Step 2: Collect &amp; Understand Data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1E3D3-E567-74C7-FD84-1EF7C4CFF3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90459"/>
            <a:ext cx="5384800" cy="3277082"/>
          </a:xfrm>
        </p:spPr>
        <p:txBody>
          <a:bodyPr wrap="square" anchor="t">
            <a:normAutofit/>
          </a:bodyPr>
          <a:lstStyle/>
          <a:p>
            <a:r>
              <a:rPr lang="en-GB"/>
              <a:t>Gather relevant data</a:t>
            </a:r>
          </a:p>
          <a:p>
            <a:r>
              <a:rPr lang="en-GB"/>
              <a:t>Explore distributions</a:t>
            </a:r>
          </a:p>
          <a:p>
            <a:r>
              <a:rPr lang="en-GB"/>
              <a:t>Check for missing values</a:t>
            </a:r>
          </a:p>
          <a:p>
            <a:r>
              <a:rPr lang="en-GB"/>
              <a:t>Understand features</a:t>
            </a:r>
          </a:p>
          <a:p>
            <a:r>
              <a:rPr lang="en-GB"/>
              <a:t>Simple statistical descriptive analysis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FD926-55C7-EE41-8795-BBEC2B13E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81751"/>
            <a:ext cx="2844800" cy="3397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44E22EE9-B8A0-0641-9265-052CFE9B95A7}" type="slidenum">
              <a:rPr lang="en-GB" altLang="en-US" smtClean="0"/>
              <a:pPr>
                <a:spcAft>
                  <a:spcPts val="600"/>
                </a:spcAft>
              </a:pPr>
              <a:t>58</a:t>
            </a:fld>
            <a:endParaRPr lang="en-GB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5FC1EB-3F99-58AB-0372-4AECA3388F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944"/>
          <a:stretch>
            <a:fillRect/>
          </a:stretch>
        </p:blipFill>
        <p:spPr>
          <a:xfrm>
            <a:off x="6437093" y="1314598"/>
            <a:ext cx="4601014" cy="422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964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DCF24-BFA8-7DAD-E260-02C7BAF91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Step 3: Clean &amp; Preprocess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8A739-52E7-3104-6298-02699DEB5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Handle missing values</a:t>
            </a:r>
          </a:p>
          <a:p>
            <a:pPr lvl="1"/>
            <a:r>
              <a:rPr lang="en-GB"/>
              <a:t>Can you remove them? Are they missing at random, or does the missingness mean something? </a:t>
            </a:r>
          </a:p>
          <a:p>
            <a:r>
              <a:rPr lang="en-GB"/>
              <a:t>Normalize / scale features</a:t>
            </a:r>
          </a:p>
          <a:p>
            <a:pPr lvl="1"/>
            <a:r>
              <a:rPr lang="en-GB"/>
              <a:t>Features should be on same scale so that naturally larger values don’t overpower smaller ones</a:t>
            </a:r>
          </a:p>
          <a:p>
            <a:r>
              <a:rPr lang="en-GB"/>
              <a:t>Encode categorical variables</a:t>
            </a:r>
          </a:p>
          <a:p>
            <a:pPr lvl="1"/>
            <a:r>
              <a:rPr lang="en-GB"/>
              <a:t>E.g. instead of a column with male and female, represent in a binary (0/1) format, so that models can understand the meaning</a:t>
            </a:r>
          </a:p>
          <a:p>
            <a:r>
              <a:rPr lang="en-GB"/>
              <a:t>Split into train/test sets</a:t>
            </a:r>
          </a:p>
          <a:p>
            <a:pPr lvl="1"/>
            <a:r>
              <a:rPr lang="en-GB"/>
              <a:t>What size do you want your sets?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C8333-D00B-6EA7-FC84-FEE740D2F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2EE9-B8A0-0641-9265-052CFE9B95A7}" type="slidenum">
              <a:rPr lang="en-GB" altLang="en-US" smtClean="0"/>
              <a:pPr/>
              <a:t>59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920105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F5166-86D0-221E-EC90-6F8DCB91F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Step 4: Choose a Model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DFA07-86BA-FC9C-519E-6514BDC2E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8140"/>
            <a:ext cx="10972800" cy="1880535"/>
          </a:xfrm>
        </p:spPr>
        <p:txBody>
          <a:bodyPr numCol="2"/>
          <a:lstStyle/>
          <a:p>
            <a:r>
              <a:rPr lang="en-GB"/>
              <a:t>Linear regression</a:t>
            </a:r>
          </a:p>
          <a:p>
            <a:r>
              <a:rPr lang="en-GB"/>
              <a:t>Logistic regression</a:t>
            </a:r>
          </a:p>
          <a:p>
            <a:r>
              <a:rPr lang="en-GB"/>
              <a:t>SVM</a:t>
            </a:r>
          </a:p>
          <a:p>
            <a:r>
              <a:rPr lang="en-GB"/>
              <a:t>Decision trees</a:t>
            </a:r>
          </a:p>
          <a:p>
            <a:r>
              <a:rPr lang="en-GB"/>
              <a:t>Random Forest</a:t>
            </a:r>
          </a:p>
          <a:p>
            <a:r>
              <a:rPr lang="en-GB"/>
              <a:t>Choose based on data and complexity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0742B-B0DC-6356-5E73-7B37A0D3B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2EE9-B8A0-0641-9265-052CFE9B95A7}" type="slidenum">
              <a:rPr lang="en-GB" altLang="en-US" smtClean="0"/>
              <a:pPr/>
              <a:t>60</a:t>
            </a:fld>
            <a:endParaRPr lang="en-GB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470E3E-F4CD-A3A4-E3AC-9A764A6A1C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68" t="11365" r="9139" b="10628"/>
          <a:stretch>
            <a:fillRect/>
          </a:stretch>
        </p:blipFill>
        <p:spPr>
          <a:xfrm>
            <a:off x="9304481" y="4482024"/>
            <a:ext cx="1668183" cy="15641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3CC3DF-5F4B-113B-DEC8-6476778850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33" t="11647" r="11033" b="12382"/>
          <a:stretch>
            <a:fillRect/>
          </a:stretch>
        </p:blipFill>
        <p:spPr>
          <a:xfrm>
            <a:off x="5311182" y="4482023"/>
            <a:ext cx="1569635" cy="15641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2DFBFD-0A73-CC9F-1A18-23AD87A858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870" t="25556" r="28871" b="35716"/>
          <a:stretch>
            <a:fillRect/>
          </a:stretch>
        </p:blipFill>
        <p:spPr>
          <a:xfrm>
            <a:off x="1219336" y="4323847"/>
            <a:ext cx="1989894" cy="188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8532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B52F8-910F-8137-5A42-448701624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5: Train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6C438-9750-9D6E-8E6A-74FE1C214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414"/>
            <a:ext cx="6113929" cy="2886727"/>
          </a:xfrm>
        </p:spPr>
        <p:txBody>
          <a:bodyPr/>
          <a:lstStyle/>
          <a:p>
            <a:r>
              <a:rPr lang="en-GB"/>
              <a:t>Fit model to training data</a:t>
            </a:r>
          </a:p>
          <a:p>
            <a:r>
              <a:rPr lang="en-GB"/>
              <a:t>Optimize parameters</a:t>
            </a:r>
          </a:p>
          <a:p>
            <a:r>
              <a:rPr lang="en-GB"/>
              <a:t>Avoid overfitting!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99EF3-904E-C8CF-2D63-D034F13BC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2EE9-B8A0-0641-9265-052CFE9B95A7}" type="slidenum">
              <a:rPr lang="en-GB" altLang="en-US" smtClean="0"/>
              <a:pPr/>
              <a:t>61</a:t>
            </a:fld>
            <a:endParaRPr lang="en-GB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29B316-A935-15CC-96A2-0234348B7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00" y="3630333"/>
            <a:ext cx="7772400" cy="263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8216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B1CD5-96DC-5ACB-F1A5-B86AEBE2C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6: Evaluate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3DA27-4134-80E7-A55F-F8561E082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Use test data</a:t>
            </a:r>
          </a:p>
          <a:p>
            <a:r>
              <a:rPr lang="en-GB"/>
              <a:t>Metrics: Accuracy, precision, sensitivity, specificity, AU-ROC…</a:t>
            </a:r>
          </a:p>
          <a:p>
            <a:r>
              <a:rPr lang="en-GB"/>
              <a:t>Cross-validation</a:t>
            </a:r>
          </a:p>
          <a:p>
            <a:r>
              <a:rPr lang="en-GB"/>
              <a:t>Who did we not correctly identify? Are there any patterns? 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19E19-6E3A-0C78-F05D-8F131B738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2EE9-B8A0-0641-9265-052CFE9B95A7}" type="slidenum">
              <a:rPr lang="en-GB" altLang="en-US" smtClean="0"/>
              <a:pPr/>
              <a:t>62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59604742"/>
      </p:ext>
    </p:extLst>
  </p:cSld>
  <p:clrMapOvr>
    <a:masterClrMapping/>
  </p:clrMapOvr>
</p:sld>
</file>

<file path=ppt/theme/theme1.xml><?xml version="1.0" encoding="utf-8"?>
<a:theme xmlns:a="http://schemas.openxmlformats.org/drawingml/2006/main" name="CCSR">
  <a:themeElements>
    <a:clrScheme name="CCSR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CSR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CS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CS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CS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CS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CS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CS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CS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CS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CS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CS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CS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CS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1426</TotalTime>
  <Words>3428</Words>
  <Application>Microsoft Macintosh PowerPoint</Application>
  <PresentationFormat>Widescreen</PresentationFormat>
  <Paragraphs>451</Paragraphs>
  <Slides>62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2" baseType="lpstr">
      <vt:lpstr>ＭＳ Ｐゴシック</vt:lpstr>
      <vt:lpstr>Aptos</vt:lpstr>
      <vt:lpstr>Calibri</vt:lpstr>
      <vt:lpstr>Courier New</vt:lpstr>
      <vt:lpstr>Gill Sans MT</vt:lpstr>
      <vt:lpstr>Google Sans</vt:lpstr>
      <vt:lpstr>Helvetica</vt:lpstr>
      <vt:lpstr>Verdana</vt:lpstr>
      <vt:lpstr>Wingdings</vt:lpstr>
      <vt:lpstr>CCSR</vt:lpstr>
      <vt:lpstr>PowerPoint Presentation</vt:lpstr>
      <vt:lpstr>Recap of supervised linear models</vt:lpstr>
      <vt:lpstr>Limitations of linear models</vt:lpstr>
      <vt:lpstr>Overcoming nonlinear decision boundaries</vt:lpstr>
      <vt:lpstr>Learning objectives</vt:lpstr>
      <vt:lpstr>Feature Vectors</vt:lpstr>
      <vt:lpstr>Linear separability and kernel functions</vt:lpstr>
      <vt:lpstr>Example</vt:lpstr>
      <vt:lpstr>Example – applying polynomial kernel</vt:lpstr>
      <vt:lpstr>What is a polynomial kernel?</vt:lpstr>
      <vt:lpstr>The three main kernels</vt:lpstr>
      <vt:lpstr>A polynomial kernel</vt:lpstr>
      <vt:lpstr>Gaussian Radial Basis Function (RBF)</vt:lpstr>
      <vt:lpstr>RBF Kernel in more generalised form</vt:lpstr>
      <vt:lpstr>Another polynomial function</vt:lpstr>
      <vt:lpstr>Kernels – quick summary</vt:lpstr>
      <vt:lpstr>Support Vector Machines</vt:lpstr>
      <vt:lpstr>SVM – advantages</vt:lpstr>
      <vt:lpstr>SVM - disadvantages</vt:lpstr>
      <vt:lpstr>SVM Classifier</vt:lpstr>
      <vt:lpstr>SVM Example</vt:lpstr>
      <vt:lpstr>Linear separation</vt:lpstr>
      <vt:lpstr>SVM – linear separation</vt:lpstr>
      <vt:lpstr>Example: SVM for a linearly separable set of 2d-points</vt:lpstr>
      <vt:lpstr>Mathematical formulation* </vt:lpstr>
      <vt:lpstr>SVM with different kernels</vt:lpstr>
      <vt:lpstr>Menti meter time</vt:lpstr>
      <vt:lpstr>Decision trees</vt:lpstr>
      <vt:lpstr>Decision Trees</vt:lpstr>
      <vt:lpstr>Decision Trees</vt:lpstr>
      <vt:lpstr>Decision Trees</vt:lpstr>
      <vt:lpstr>Decision Making Using DTs </vt:lpstr>
      <vt:lpstr>Decision Making Using DTs </vt:lpstr>
      <vt:lpstr>DTs in Clinical Applications </vt:lpstr>
      <vt:lpstr>Learning decision trees</vt:lpstr>
      <vt:lpstr>The ID3 algorithms</vt:lpstr>
      <vt:lpstr>The ID3 algorithms</vt:lpstr>
      <vt:lpstr>Entropy and Information Gain*</vt:lpstr>
      <vt:lpstr>Entropy and Information Gain*</vt:lpstr>
      <vt:lpstr>Decision Trees - Limitations</vt:lpstr>
      <vt:lpstr>How to overcome these limitations?</vt:lpstr>
      <vt:lpstr>Random Forest</vt:lpstr>
      <vt:lpstr>Averaging methods</vt:lpstr>
      <vt:lpstr>Bagging</vt:lpstr>
      <vt:lpstr>Bagging</vt:lpstr>
      <vt:lpstr>Boosting methods</vt:lpstr>
      <vt:lpstr>Gradient Boosting</vt:lpstr>
      <vt:lpstr>XGBoost</vt:lpstr>
      <vt:lpstr>Random Forests</vt:lpstr>
      <vt:lpstr>Structure of Random Forests</vt:lpstr>
      <vt:lpstr>Feature important in RF: Example</vt:lpstr>
      <vt:lpstr>Random Forests</vt:lpstr>
      <vt:lpstr>Practical note on RFs</vt:lpstr>
      <vt:lpstr>Menti meter time</vt:lpstr>
      <vt:lpstr>Open discussion</vt:lpstr>
      <vt:lpstr>The ML Roadmap</vt:lpstr>
      <vt:lpstr>Step 1: Define the problem </vt:lpstr>
      <vt:lpstr>Step 2: Collect &amp; Understand Data</vt:lpstr>
      <vt:lpstr>Step 3: Clean &amp; Preprocess</vt:lpstr>
      <vt:lpstr>Step 4: Choose a Model</vt:lpstr>
      <vt:lpstr>Step 5: Train the model</vt:lpstr>
      <vt:lpstr>Step 6: Evaluate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Biggart, Iona E I</cp:lastModifiedBy>
  <cp:revision>4</cp:revision>
  <cp:lastPrinted>1601-01-01T00:00:00Z</cp:lastPrinted>
  <dcterms:created xsi:type="dcterms:W3CDTF">2026-02-21T21:04:53Z</dcterms:created>
  <dcterms:modified xsi:type="dcterms:W3CDTF">2026-03-03T07:18:59Z</dcterms:modified>
</cp:coreProperties>
</file>